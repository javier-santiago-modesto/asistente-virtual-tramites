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70" r:id="rId6"/>
    <p:sldId id="269" r:id="rId7"/>
    <p:sldId id="262" r:id="rId8"/>
    <p:sldId id="264" r:id="rId9"/>
    <p:sldId id="265" r:id="rId10"/>
    <p:sldId id="267" r:id="rId11"/>
    <p:sldId id="268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80" d="100"/>
          <a:sy n="80" d="100"/>
        </p:scale>
        <p:origin x="880" y="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7856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Solución de IA generativa que valida elegibilidad y guía al alumno en tres trámites: Certificado de Estudios, Constancia de Matrícula y Bachiller.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Dolor de negocio: el personal debe cruzar a mano cinco fuentes de datos y aplicar reglas distintas por trámite; cada error puede emitir un documento a quien no cumple.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identificaron dos actores con necesidades distintas y cinco fuentes de datos estructuradas que sostienen las reglas de negocio.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reglas se aplican en código determinista. Periodo vigente: 2026. Los precios salen del catálogo (tramites.csv).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8E836-E52C-0BC3-C5B7-4374AE6BF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1A53AB-11BB-CF49-C4BC-0B694CA341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E2C119-2C05-2275-2B35-7E4984CA50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solo servicio FastAPI en Cloud Run sirve la interfaz y la API. El agente decide qué herramienta usar: reglas en código sobre CSV, o RAG sobre Elasticsearch para información general.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DC9AF5-24ED-41C2-627B-C0FAA42EB9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7073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LlamaIndex ingesta, fragmenta, vectoriza y recupera; LangChain razona y decide. El retriever se expone al agente como una herramienta. Las fuentes son dos páginas oficiales públicas.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Ocho herramientas registradas en el agente, con distintos estilos de LangChain. Cada una tiene un esquema tipado con Pydantic y una descripción que indica cuándo usarla y cuándo no. El detalle de cursos y notas se muestra solo en la vista previa, tras la confirmación.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tres verificaciones se ejecutan en paralelo con RunnableParallel. Si alguna falla, la herramienta devuelve los requisitos pendientes para que el agente los explique.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Tras validar y confirmar, el alumno ve una vista previa con marca de agua, paga en línea (pasarela simulada) y obtiene el documento. Todo corre en un único servicio de Cloud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con los beneficios concretos del proyecto y la hoja de ruta hacia producción, incluido un piloto con métricas.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Asistente Virtual de Trámites Académicos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O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005840"/>
            <a:ext cx="4206240" cy="4206240"/>
          </a:xfrm>
          <a:prstGeom prst="ellipse">
            <a:avLst/>
          </a:prstGeom>
          <a:solidFill>
            <a:schemeClr val="accent1">
              <a:alpha val="30000"/>
            </a:scheme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7498080" y="2377440"/>
            <a:ext cx="3108960" cy="3108960"/>
          </a:xfrm>
          <a:prstGeom prst="ellipse">
            <a:avLst/>
          </a:prstGeom>
          <a:solidFill>
            <a:schemeClr val="accent2">
              <a:alpha val="25000"/>
            </a:scheme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2"/>
                </a:solidFill>
              </a:rPr>
              <a:t>SOLUCIÓN DE IA GENERATIVA · TRÁMITES ACADÉMICOS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43000"/>
            <a:ext cx="6766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Asistente Virtual de Trámites Académicos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0604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Para validar la elegibilidad y emitir Certificado de Estudios, Constancia de Matrícula y Bachiller.</a:t>
            </a:r>
            <a:endParaRPr lang="en-US" sz="1600" dirty="0"/>
          </a:p>
        </p:txBody>
      </p:sp>
      <p:sp>
        <p:nvSpPr>
          <p:cNvPr id="7" name="Tecnologías"/>
          <p:cNvSpPr/>
          <p:nvPr/>
        </p:nvSpPr>
        <p:spPr>
          <a:xfrm>
            <a:off x="548640" y="3429000"/>
            <a:ext cx="7315200" cy="411480"/>
          </a:xfrm>
          <a:prstGeom prst="roundRect">
            <a:avLst>
              <a:gd name="adj" fmla="val 17778"/>
            </a:avLst>
          </a:prstGeom>
          <a:solidFill>
            <a:srgbClr val="0E183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 txBox="1"/>
          <p:nvPr/>
        </p:nvSpPr>
        <p:spPr>
          <a:xfrm>
            <a:off x="548640" y="3429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2"/>
                </a:solidFill>
              </a:rPr>
              <a:t>LangChain · LlamaIndex · LangGraph · LangSmith · GPT · Elasticsearch · Cloud Run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645920" y="4224528"/>
            <a:ext cx="128016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dash"/>
          </a:ln>
        </p:spPr>
        <p:txBody>
          <a:bodyPr/>
          <a:lstStyle/>
          <a:p>
            <a:endParaRPr lang="es-PE"/>
          </a:p>
        </p:txBody>
      </p:sp>
      <p:sp>
        <p:nvSpPr>
          <p:cNvPr id="10" name="Shape 8"/>
          <p:cNvSpPr/>
          <p:nvPr/>
        </p:nvSpPr>
        <p:spPr>
          <a:xfrm>
            <a:off x="1188720" y="3995928"/>
            <a:ext cx="457200" cy="457200"/>
          </a:xfrm>
          <a:prstGeom prst="ellipse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 txBox="1"/>
          <p:nvPr/>
        </p:nvSpPr>
        <p:spPr>
          <a:xfrm>
            <a:off x="1188720" y="3995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4805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2"/>
                </a:solidFill>
              </a:rPr>
              <a:t>Alumno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83280" y="4224528"/>
            <a:ext cx="128016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dash"/>
          </a:ln>
        </p:spPr>
        <p:txBody>
          <a:bodyPr/>
          <a:lstStyle/>
          <a:p>
            <a:endParaRPr lang="es-PE"/>
          </a:p>
        </p:txBody>
      </p:sp>
      <p:sp>
        <p:nvSpPr>
          <p:cNvPr id="14" name="Shape 12"/>
          <p:cNvSpPr/>
          <p:nvPr/>
        </p:nvSpPr>
        <p:spPr>
          <a:xfrm>
            <a:off x="2926080" y="3995928"/>
            <a:ext cx="457200" cy="457200"/>
          </a:xfrm>
          <a:prstGeom prst="ellipse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5" name="Text 13"/>
          <p:cNvSpPr txBox="1"/>
          <p:nvPr/>
        </p:nvSpPr>
        <p:spPr>
          <a:xfrm>
            <a:off x="2926080" y="3995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2651760" y="44805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2"/>
                </a:solidFill>
              </a:rPr>
              <a:t>Agente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120640" y="4224528"/>
            <a:ext cx="128016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dash"/>
          </a:ln>
        </p:spPr>
        <p:txBody>
          <a:bodyPr/>
          <a:lstStyle/>
          <a:p>
            <a:endParaRPr lang="es-PE"/>
          </a:p>
        </p:txBody>
      </p:sp>
      <p:sp>
        <p:nvSpPr>
          <p:cNvPr id="18" name="Shape 16"/>
          <p:cNvSpPr/>
          <p:nvPr/>
        </p:nvSpPr>
        <p:spPr>
          <a:xfrm>
            <a:off x="4663440" y="3995928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9" name="Text 17"/>
          <p:cNvSpPr txBox="1"/>
          <p:nvPr/>
        </p:nvSpPr>
        <p:spPr>
          <a:xfrm>
            <a:off x="4663440" y="3995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389120" y="44805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2"/>
                </a:solidFill>
              </a:rPr>
              <a:t>Workflow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0" y="3995928"/>
            <a:ext cx="457200" cy="457200"/>
          </a:xfrm>
          <a:prstGeom prst="ellipse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2" name="Text 20"/>
          <p:cNvSpPr txBox="1"/>
          <p:nvPr/>
        </p:nvSpPr>
        <p:spPr>
          <a:xfrm>
            <a:off x="6400800" y="3995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126480" y="44805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2"/>
                </a:solidFill>
              </a:rPr>
              <a:t>Documento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chemeClr val="tx1"/>
                </a:solidFill>
              </a:rPr>
              <a:t>El problema: </a:t>
            </a:r>
            <a:r>
              <a:rPr lang="es-ES" sz="3000" b="1" dirty="0">
                <a:solidFill>
                  <a:schemeClr val="tx1"/>
                </a:solidFill>
              </a:rPr>
              <a:t>u</a:t>
            </a:r>
            <a:r>
              <a:rPr lang="es-ES" dirty="0"/>
              <a:t>n proceso manual, lento y con alto riesgo de error</a:t>
            </a:r>
            <a:endParaRPr lang="en-US" sz="3000" dirty="0"/>
          </a:p>
        </p:txBody>
      </p:sp>
      <p:sp>
        <p:nvSpPr>
          <p:cNvPr id="3" name="Contexto"/>
          <p:cNvSpPr/>
          <p:nvPr/>
        </p:nvSpPr>
        <p:spPr>
          <a:xfrm>
            <a:off x="457200" y="1280160"/>
            <a:ext cx="393192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 txBox="1"/>
          <p:nvPr/>
        </p:nvSpPr>
        <p:spPr>
          <a:xfrm>
            <a:off x="685800" y="1417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Contexto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8308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Para resolver Certificado de Estudios, Constancia de Matrícula y Bachiller, el personal debe cruzar a mano 5 fuentes de datos (alumno, matrícula, situación académica, historial de notas y catálogo de trámites) y aplicar reglas distintas en cada caso.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361188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 txBox="1"/>
          <p:nvPr/>
        </p:nvSpPr>
        <p:spPr>
          <a:xfrm>
            <a:off x="6858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!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4747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chemeClr val="tx1"/>
                </a:solidFill>
              </a:rPr>
              <a:t>Un error de validación puede emitir un trámite a un alumno que no cumple los requisitos.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325880"/>
            <a:ext cx="384048" cy="384048"/>
          </a:xfrm>
          <a:prstGeom prst="ellipse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 txBox="1"/>
          <p:nvPr/>
        </p:nvSpPr>
        <p:spPr>
          <a:xfrm>
            <a:off x="466344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212080" y="1280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Tiempos de espera largos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212080" y="1554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Atención presencial o por correo; respuesta en días.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993392"/>
            <a:ext cx="384048" cy="384048"/>
          </a:xfrm>
          <a:prstGeom prst="ellipse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 txBox="1"/>
          <p:nvPr/>
        </p:nvSpPr>
        <p:spPr>
          <a:xfrm>
            <a:off x="4663440" y="1993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212080" y="19476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Validación cruzada manual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212080" y="22219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Revisar créditos, cursos, matrícula y deudas a mano.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2660904"/>
            <a:ext cx="384048" cy="384048"/>
          </a:xfrm>
          <a:prstGeom prst="ellipse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8" name="Text 16"/>
          <p:cNvSpPr txBox="1"/>
          <p:nvPr/>
        </p:nvSpPr>
        <p:spPr>
          <a:xfrm>
            <a:off x="4663440" y="2660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212080" y="26151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Riesgo de cumplimiento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212080" y="288950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Se pueden emitir trámites a alumnos no elegibles.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63440" y="3328416"/>
            <a:ext cx="384048" cy="384048"/>
          </a:xfrm>
          <a:prstGeom prst="ellipse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2" name="Text 20"/>
          <p:cNvSpPr txBox="1"/>
          <p:nvPr/>
        </p:nvSpPr>
        <p:spPr>
          <a:xfrm>
            <a:off x="4663440" y="3328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212080" y="32826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Carga operativa alta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5212080" y="355701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200" dirty="0">
                <a:solidFill>
                  <a:schemeClr val="accent5"/>
                </a:solidFill>
              </a:rPr>
              <a:t>El personal atiende consultas repetitivas de bajo valor agregado.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63440" y="3995928"/>
            <a:ext cx="384048" cy="384048"/>
          </a:xfrm>
          <a:prstGeom prst="ellipse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6" name="Text 24"/>
          <p:cNvSpPr txBox="1"/>
          <p:nvPr/>
        </p:nvSpPr>
        <p:spPr>
          <a:xfrm>
            <a:off x="4663440" y="3995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212080" y="39502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Poca transparencia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5212080" y="42245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El alumno no sabe si es elegible, el precio ni el plazo.</a:t>
            </a:r>
            <a:endParaRPr lang="en-US" sz="12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Análisis previo: actores y necesidades</a:t>
            </a:r>
            <a:endParaRPr lang="en-US" sz="3000" dirty="0"/>
          </a:p>
        </p:txBody>
      </p:sp>
      <p:sp>
        <p:nvSpPr>
          <p:cNvPr id="3" name="Necesidades del alumno"/>
          <p:cNvSpPr/>
          <p:nvPr/>
        </p:nvSpPr>
        <p:spPr>
          <a:xfrm>
            <a:off x="457200" y="1280159"/>
            <a:ext cx="4023360" cy="2918129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 txBox="1"/>
          <p:nvPr/>
        </p:nvSpPr>
        <p:spPr>
          <a:xfrm>
            <a:off x="64008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417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Necesidades del alumno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011680"/>
            <a:ext cx="3611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Autoservicio 24/7, sin horario de oficina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Respuesta en lenguaje natural, sin formularios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Requisitos, precio y plazo a la vista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Entender por qué es o no elegible</a:t>
            </a:r>
            <a:endParaRPr lang="en-US" sz="1500" dirty="0"/>
          </a:p>
        </p:txBody>
      </p:sp>
      <p:sp>
        <p:nvSpPr>
          <p:cNvPr id="8" name="Necesidades de la institución"/>
          <p:cNvSpPr/>
          <p:nvPr/>
        </p:nvSpPr>
        <p:spPr>
          <a:xfrm>
            <a:off x="4663440" y="1280160"/>
            <a:ext cx="4023360" cy="2918128"/>
          </a:xfrm>
          <a:prstGeom prst="roundRect">
            <a:avLst>
              <a:gd name="adj" fmla="val 3200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9" name="Shape 7"/>
          <p:cNvSpPr/>
          <p:nvPr/>
        </p:nvSpPr>
        <p:spPr>
          <a:xfrm>
            <a:off x="4846320" y="141732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 txBox="1"/>
          <p:nvPr/>
        </p:nvSpPr>
        <p:spPr>
          <a:xfrm>
            <a:off x="484632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I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40680" y="1417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Necesidades de la institución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2011680"/>
            <a:ext cx="3611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-ES" sz="1500" dirty="0">
                <a:solidFill>
                  <a:schemeClr val="bg1"/>
                </a:solidFill>
              </a:rPr>
              <a:t>Cumplimiento estricto de reglas de negocio (créditos, matrícula, deudas).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-ES" sz="1500" dirty="0">
                <a:solidFill>
                  <a:schemeClr val="bg1"/>
                </a:solidFill>
              </a:rPr>
              <a:t>Trazabilidad y auditoría de cada interacción con el alumno.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-ES" sz="1500" dirty="0">
                <a:solidFill>
                  <a:schemeClr val="bg1"/>
                </a:solidFill>
              </a:rPr>
              <a:t>Cero alucinaciones: nunca inventar datos académicos.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-ES" sz="1500" dirty="0">
                <a:solidFill>
                  <a:schemeClr val="bg1"/>
                </a:solidFill>
              </a:rPr>
              <a:t>Solución modular, fácil de escalar a nuevos trámites.</a:t>
            </a:r>
            <a:endParaRPr lang="en-US" sz="1500" dirty="0"/>
          </a:p>
        </p:txBody>
      </p:sp>
      <p:sp>
        <p:nvSpPr>
          <p:cNvPr id="2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Reglas de negocio por trámite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251460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Trámite</a:t>
                      </a:r>
                      <a:endParaRPr lang="en-US" sz="1400" dirty="0"/>
                    </a:p>
                  </a:txBody>
                  <a:tcPr marT="0" marB="0" anchor="ctr">
                    <a:lnL w="12700" cap="flat" cmpd="sng" algn="ctr">
                      <a:solidFill>
                        <a:srgbClr val="D5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Regla de elegibilidad</a:t>
                      </a:r>
                      <a:endParaRPr lang="en-US" sz="1400" dirty="0"/>
                    </a:p>
                  </a:txBody>
                  <a:tcPr marT="0" marB="0" anchor="ctr">
                    <a:lnL w="12700" cap="flat" cmpd="sng" algn="ctr">
                      <a:solidFill>
                        <a:srgbClr val="D5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Entrega</a:t>
                      </a:r>
                      <a:endParaRPr lang="en-US" sz="1400" dirty="0"/>
                    </a:p>
                  </a:txBody>
                  <a:tcPr marT="0" marB="0" anchor="ctr">
                    <a:lnL w="12700" cap="flat" cmpd="sng" algn="ctr">
                      <a:solidFill>
                        <a:srgbClr val="D5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Certificado de Estudios</a:t>
                      </a:r>
                      <a:endParaRPr lang="en-US" sz="1400" dirty="0"/>
                    </a:p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S/ 80.00</a:t>
                      </a:r>
                      <a:endParaRPr lang="en-US" sz="1400" dirty="0"/>
                    </a:p>
                  </a:txBody>
                  <a:tcPr marT="0" marB="0" anchor="ctr">
                    <a:lnL w="12700" cap="flat" cmpd="sng" algn="ctr">
                      <a:solidFill>
                        <a:srgbClr val="D5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Tener cursos y notas en el historial académico</a:t>
                      </a:r>
                      <a:endParaRPr lang="en-US" sz="1400" dirty="0"/>
                    </a:p>
                  </a:txBody>
                  <a:tcPr marT="0" marB="0" anchor="ctr">
                    <a:lnL w="12700" cap="flat" cmpd="sng" algn="ctr">
                      <a:solidFill>
                        <a:srgbClr val="D5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Inmediata</a:t>
                      </a:r>
                      <a:endParaRPr lang="en-US" sz="1400" dirty="0"/>
                    </a:p>
                  </a:txBody>
                  <a:tcPr marT="0" marB="0" anchor="ctr">
                    <a:lnL w="12700" cap="flat" cmpd="sng" algn="ctr">
                      <a:solidFill>
                        <a:srgbClr val="D5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Constancia de Matrícula</a:t>
                      </a:r>
                      <a:endParaRPr lang="en-US" sz="1400" dirty="0"/>
                    </a:p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S/ 60.00</a:t>
                      </a:r>
                      <a:endParaRPr lang="en-US" sz="1400" dirty="0"/>
                    </a:p>
                  </a:txBody>
                  <a:tcPr marT="0" marB="0" anchor="ctr">
                    <a:lnL w="12700" cap="flat" cmpd="sng" algn="ctr">
                      <a:solidFill>
                        <a:srgbClr val="D5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Estar matriculado en el periodo 2026</a:t>
                      </a:r>
                      <a:endParaRPr lang="en-US" sz="1400" dirty="0"/>
                    </a:p>
                  </a:txBody>
                  <a:tcPr marT="0" marB="0" anchor="ctr">
                    <a:lnL w="12700" cap="flat" cmpd="sng" algn="ctr">
                      <a:solidFill>
                        <a:srgbClr val="D5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Inmediata</a:t>
                      </a:r>
                      <a:endParaRPr lang="en-US" sz="1400" dirty="0"/>
                    </a:p>
                  </a:txBody>
                  <a:tcPr marT="0" marB="0" anchor="ctr">
                    <a:lnL w="12700" cap="flat" cmpd="sng" algn="ctr">
                      <a:solidFill>
                        <a:srgbClr val="D5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Bachiller</a:t>
                      </a:r>
                      <a:endParaRPr lang="en-US" sz="1400" dirty="0"/>
                    </a:p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S/ 1,500.00</a:t>
                      </a:r>
                      <a:endParaRPr lang="en-US" sz="1400" dirty="0"/>
                    </a:p>
                  </a:txBody>
                  <a:tcPr marT="0" marB="0" anchor="ctr">
                    <a:lnL w="12700" cap="flat" cmpd="sng" algn="ctr">
                      <a:solidFill>
                        <a:srgbClr val="D5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200 créditos, 50 cursos, estado EGRESADO y sin deuda de biblioteca</a:t>
                      </a:r>
                      <a:endParaRPr lang="en-US" sz="1400" dirty="0"/>
                    </a:p>
                  </a:txBody>
                  <a:tcPr marT="0" marB="0" anchor="ctr">
                    <a:lnL w="12700" cap="flat" cmpd="sng" algn="ctr">
                      <a:solidFill>
                        <a:srgbClr val="D5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 días hábiles</a:t>
                      </a:r>
                      <a:endParaRPr lang="en-US" sz="1400" dirty="0"/>
                    </a:p>
                  </a:txBody>
                  <a:tcPr marT="0" marB="0" anchor="ctr">
                    <a:lnL w="12700" cap="flat" cmpd="sng" algn="ctr">
                      <a:solidFill>
                        <a:srgbClr val="D5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Nota"/>
          <p:cNvSpPr/>
          <p:nvPr/>
        </p:nvSpPr>
        <p:spPr>
          <a:xfrm>
            <a:off x="457200" y="402336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" name="Text 2"/>
          <p:cNvSpPr txBox="1"/>
          <p:nvPr/>
        </p:nvSpPr>
        <p:spPr>
          <a:xfrm>
            <a:off x="685800" y="4023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Si el alumno no es elegible, el agente explica qué requisito le falta.</a:t>
            </a:r>
            <a:endParaRPr lang="en-US" sz="1500" dirty="0"/>
          </a:p>
        </p:txBody>
      </p:sp>
      <p:sp>
        <p:nvSpPr>
          <p:cNvPr id="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Híbrido + RAG">
            <a:extLst>
              <a:ext uri="{FF2B5EF4-FFF2-40B4-BE49-F238E27FC236}">
                <a16:creationId xmlns:a16="http://schemas.microsoft.com/office/drawing/2014/main" id="{27D5A8E2-221F-0E00-9F3B-4744E1E1C9D2}"/>
              </a:ext>
            </a:extLst>
          </p:cNvPr>
          <p:cNvSpPr/>
          <p:nvPr/>
        </p:nvSpPr>
        <p:spPr>
          <a:xfrm>
            <a:off x="0" y="0"/>
            <a:ext cx="3962400" cy="5143500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 txBox="1"/>
          <p:nvPr/>
        </p:nvSpPr>
        <p:spPr>
          <a:xfrm>
            <a:off x="377190" y="342900"/>
            <a:ext cx="3154680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kern="0" spc="15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LA APLICACIÓN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377190" y="61722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Agente + Workflow + RAG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377189" y="1110996"/>
            <a:ext cx="3097525" cy="425196"/>
          </a:xfrm>
          <a:prstGeom prst="roundRect">
            <a:avLst>
              <a:gd name="adj" fmla="val 12903"/>
            </a:avLst>
          </a:prstGeom>
          <a:solidFill>
            <a:srgbClr val="141B49"/>
          </a:solidFill>
          <a:ln/>
        </p:spPr>
        <p:txBody>
          <a:bodyPr/>
          <a:lstStyle/>
          <a:p>
            <a:endParaRPr lang="es-PE" sz="1350"/>
          </a:p>
        </p:txBody>
      </p:sp>
      <p:sp>
        <p:nvSpPr>
          <p:cNvPr id="6" name="Text 4"/>
          <p:cNvSpPr txBox="1"/>
          <p:nvPr/>
        </p:nvSpPr>
        <p:spPr>
          <a:xfrm>
            <a:off x="502920" y="1179576"/>
            <a:ext cx="2754630" cy="1851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FFFFFF"/>
                </a:solidFill>
                <a:ea typeface="Cambria" pitchFamily="34" charset="-122"/>
                <a:cs typeface="Cambria" pitchFamily="34" charset="-120"/>
              </a:rPr>
              <a:t>Alumno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364742"/>
            <a:ext cx="2754630" cy="1577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 en lenguaje natural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954530" y="1536192"/>
            <a:ext cx="0" cy="109728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  <a:tailEnd type="triangle"/>
          </a:ln>
        </p:spPr>
        <p:txBody>
          <a:bodyPr/>
          <a:lstStyle/>
          <a:p>
            <a:endParaRPr lang="es-PE" sz="1350"/>
          </a:p>
        </p:txBody>
      </p:sp>
      <p:sp>
        <p:nvSpPr>
          <p:cNvPr id="9" name="Shape 7"/>
          <p:cNvSpPr/>
          <p:nvPr/>
        </p:nvSpPr>
        <p:spPr>
          <a:xfrm>
            <a:off x="377189" y="1645920"/>
            <a:ext cx="3097525" cy="534924"/>
          </a:xfrm>
          <a:prstGeom prst="roundRect">
            <a:avLst>
              <a:gd name="adj" fmla="val 10256"/>
            </a:avLst>
          </a:prstGeom>
          <a:solidFill>
            <a:srgbClr val="F2A93B"/>
          </a:solidFill>
          <a:ln/>
        </p:spPr>
        <p:txBody>
          <a:bodyPr/>
          <a:lstStyle/>
          <a:p>
            <a:endParaRPr lang="es-PE" sz="1350"/>
          </a:p>
        </p:txBody>
      </p:sp>
      <p:sp>
        <p:nvSpPr>
          <p:cNvPr id="10" name="Text 8"/>
          <p:cNvSpPr txBox="1"/>
          <p:nvPr/>
        </p:nvSpPr>
        <p:spPr>
          <a:xfrm>
            <a:off x="502920" y="1688655"/>
            <a:ext cx="2754630" cy="1781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141B49"/>
                </a:solidFill>
                <a:ea typeface="Cambria" pitchFamily="34" charset="-122"/>
                <a:cs typeface="Cambria" pitchFamily="34" charset="-120"/>
              </a:rPr>
              <a:t>Agente (LLM + Tool-Calling)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1837944"/>
            <a:ext cx="2891790" cy="2905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05000"/>
              </a:lnSpc>
            </a:pPr>
            <a:r>
              <a:rPr lang="en-US" sz="1000" dirty="0">
                <a:solidFill>
                  <a:srgbClr val="141B49"/>
                </a:solidFill>
                <a:ea typeface="Calibri" pitchFamily="34" charset="-122"/>
                <a:cs typeface="Calibri" pitchFamily="34" charset="-120"/>
              </a:rPr>
              <a:t>Interpreta intención · decide entre 9 tools (7 deterministas + 2 RAG)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954530" y="2180844"/>
            <a:ext cx="0" cy="96012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  <a:tailEnd type="triangle"/>
          </a:ln>
        </p:spPr>
        <p:txBody>
          <a:bodyPr/>
          <a:lstStyle/>
          <a:p>
            <a:endParaRPr lang="es-PE" sz="1350"/>
          </a:p>
        </p:txBody>
      </p:sp>
      <p:sp>
        <p:nvSpPr>
          <p:cNvPr id="13" name="Shape 11"/>
          <p:cNvSpPr/>
          <p:nvPr/>
        </p:nvSpPr>
        <p:spPr>
          <a:xfrm>
            <a:off x="377189" y="2276856"/>
            <a:ext cx="1529335" cy="489298"/>
          </a:xfrm>
          <a:prstGeom prst="roundRect">
            <a:avLst>
              <a:gd name="adj" fmla="val 11538"/>
            </a:avLst>
          </a:prstGeom>
          <a:solidFill>
            <a:srgbClr val="1E2761"/>
          </a:solidFill>
          <a:ln w="95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PE" sz="1350"/>
          </a:p>
        </p:txBody>
      </p:sp>
      <p:sp>
        <p:nvSpPr>
          <p:cNvPr id="14" name="Text 12"/>
          <p:cNvSpPr txBox="1"/>
          <p:nvPr/>
        </p:nvSpPr>
        <p:spPr>
          <a:xfrm>
            <a:off x="437322" y="2311146"/>
            <a:ext cx="138690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CADCFC"/>
                </a:solidFill>
                <a:ea typeface="Cambria" pitchFamily="34" charset="-122"/>
                <a:cs typeface="Cambria" pitchFamily="34" charset="-120"/>
              </a:rPr>
              <a:t>System Prompt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392435" y="2523742"/>
            <a:ext cx="1514087" cy="2424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CADCFC"/>
                </a:solidFill>
                <a:ea typeface="Calibri" pitchFamily="34" charset="-122"/>
                <a:cs typeface="Calibri" pitchFamily="34" charset="-120"/>
              </a:rPr>
              <a:t>Restricción de dominio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002535" y="2276855"/>
            <a:ext cx="1472177" cy="489299"/>
          </a:xfrm>
          <a:prstGeom prst="roundRect">
            <a:avLst>
              <a:gd name="adj" fmla="val 11538"/>
            </a:avLst>
          </a:prstGeom>
          <a:solidFill>
            <a:srgbClr val="1E2761"/>
          </a:solidFill>
          <a:ln w="95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PE" sz="1350"/>
          </a:p>
        </p:txBody>
      </p:sp>
      <p:sp>
        <p:nvSpPr>
          <p:cNvPr id="17" name="Text 15"/>
          <p:cNvSpPr txBox="1"/>
          <p:nvPr/>
        </p:nvSpPr>
        <p:spPr>
          <a:xfrm>
            <a:off x="2084832" y="2311145"/>
            <a:ext cx="1309878" cy="1668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CADCFC"/>
                </a:solidFill>
                <a:ea typeface="Cambria" pitchFamily="34" charset="-122"/>
                <a:cs typeface="Cambria" pitchFamily="34" charset="-120"/>
              </a:rPr>
              <a:t>Memoria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2011686" y="2547746"/>
            <a:ext cx="1463026" cy="1954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CADCFC"/>
                </a:solidFill>
                <a:ea typeface="Calibri" pitchFamily="34" charset="-122"/>
                <a:cs typeface="Calibri" pitchFamily="34" charset="-120"/>
              </a:rPr>
              <a:t>InMemorySaver · thread_id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954530" y="2633472"/>
            <a:ext cx="0" cy="96012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  <a:tailEnd type="triangle"/>
          </a:ln>
        </p:spPr>
        <p:txBody>
          <a:bodyPr/>
          <a:lstStyle/>
          <a:p>
            <a:endParaRPr lang="es-PE" sz="1350"/>
          </a:p>
        </p:txBody>
      </p:sp>
      <p:sp>
        <p:nvSpPr>
          <p:cNvPr id="20" name="Text 18"/>
          <p:cNvSpPr txBox="1"/>
          <p:nvPr/>
        </p:nvSpPr>
        <p:spPr>
          <a:xfrm>
            <a:off x="377189" y="2896456"/>
            <a:ext cx="309752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CADCFC"/>
                </a:solidFill>
                <a:ea typeface="Cambria" pitchFamily="34" charset="-122"/>
                <a:cs typeface="Cambria" pitchFamily="34" charset="-120"/>
              </a:rPr>
              <a:t>Workflow (LCEL) + RAG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77190" y="3090669"/>
            <a:ext cx="1051560" cy="788476"/>
          </a:xfrm>
          <a:prstGeom prst="roundRect">
            <a:avLst>
              <a:gd name="adj" fmla="val 7059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s-PE" sz="1350"/>
          </a:p>
        </p:txBody>
      </p:sp>
      <p:sp>
        <p:nvSpPr>
          <p:cNvPr id="22" name="Text 20"/>
          <p:cNvSpPr txBox="1"/>
          <p:nvPr/>
        </p:nvSpPr>
        <p:spPr>
          <a:xfrm>
            <a:off x="377189" y="3098621"/>
            <a:ext cx="1051561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141B49"/>
                </a:solidFill>
                <a:ea typeface="Cambria" pitchFamily="34" charset="-122"/>
                <a:cs typeface="Cambria" pitchFamily="34" charset="-120"/>
              </a:rPr>
              <a:t>Runnable</a:t>
            </a:r>
            <a:endParaRPr lang="en-US" sz="1000" dirty="0"/>
          </a:p>
          <a:p>
            <a:r>
              <a:rPr lang="en-US" sz="1000" b="1" dirty="0">
                <a:solidFill>
                  <a:srgbClr val="141B49"/>
                </a:solidFill>
                <a:ea typeface="Cambria" pitchFamily="34" charset="-122"/>
                <a:cs typeface="Cambria" pitchFamily="34" charset="-120"/>
              </a:rPr>
              <a:t>Parallel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377190" y="3414089"/>
            <a:ext cx="1068316" cy="473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141B49"/>
                </a:solidFill>
                <a:ea typeface="Calibri" pitchFamily="34" charset="-122"/>
                <a:cs typeface="Calibri" pitchFamily="34" charset="-120"/>
              </a:rPr>
              <a:t>Valida 3 condiciones a la vez (Bachiller)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497330" y="3090669"/>
            <a:ext cx="914400" cy="788476"/>
          </a:xfrm>
          <a:prstGeom prst="roundRect">
            <a:avLst>
              <a:gd name="adj" fmla="val 7059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s-PE" sz="1350"/>
          </a:p>
        </p:txBody>
      </p:sp>
      <p:sp>
        <p:nvSpPr>
          <p:cNvPr id="25" name="Text 23"/>
          <p:cNvSpPr txBox="1"/>
          <p:nvPr/>
        </p:nvSpPr>
        <p:spPr>
          <a:xfrm>
            <a:off x="1497330" y="3105479"/>
            <a:ext cx="914400" cy="3360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141B49"/>
                </a:solidFill>
                <a:ea typeface="Cambria" pitchFamily="34" charset="-122"/>
                <a:cs typeface="Cambria" pitchFamily="34" charset="-120"/>
              </a:rPr>
              <a:t>Runnable</a:t>
            </a:r>
            <a:endParaRPr lang="en-US" sz="1000" dirty="0"/>
          </a:p>
          <a:p>
            <a:r>
              <a:rPr lang="en-US" sz="1000" b="1" dirty="0">
                <a:solidFill>
                  <a:srgbClr val="141B49"/>
                </a:solidFill>
                <a:ea typeface="Cambria" pitchFamily="34" charset="-122"/>
                <a:cs typeface="Cambria" pitchFamily="34" charset="-120"/>
              </a:rPr>
              <a:t>Sequence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497330" y="3414089"/>
            <a:ext cx="914400" cy="4867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141B49"/>
                </a:solidFill>
                <a:ea typeface="Calibri" pitchFamily="34" charset="-122"/>
                <a:cs typeface="Calibri" pitchFamily="34" charset="-120"/>
              </a:rPr>
              <a:t>Genera documentos oficiales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480310" y="3090669"/>
            <a:ext cx="994402" cy="788476"/>
          </a:xfrm>
          <a:prstGeom prst="roundRect">
            <a:avLst>
              <a:gd name="adj" fmla="val 7059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s-PE" sz="1350"/>
          </a:p>
        </p:txBody>
      </p:sp>
      <p:sp>
        <p:nvSpPr>
          <p:cNvPr id="28" name="Text 26"/>
          <p:cNvSpPr txBox="1"/>
          <p:nvPr/>
        </p:nvSpPr>
        <p:spPr>
          <a:xfrm>
            <a:off x="2480310" y="3105479"/>
            <a:ext cx="994402" cy="3360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141B49"/>
                </a:solidFill>
                <a:ea typeface="Cambria" pitchFamily="34" charset="-122"/>
                <a:cs typeface="Cambria" pitchFamily="34" charset="-120"/>
              </a:rPr>
              <a:t>Retriever RAG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2480310" y="3414089"/>
            <a:ext cx="994404" cy="4798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141B49"/>
                </a:solidFill>
                <a:ea typeface="Calibri" pitchFamily="34" charset="-122"/>
                <a:cs typeface="Calibri" pitchFamily="34" charset="-120"/>
              </a:rPr>
              <a:t>LlamaIndex · busca en Elasticsearch (top-k)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954530" y="3625893"/>
            <a:ext cx="0" cy="406611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  <a:tailEnd type="triangle"/>
          </a:ln>
        </p:spPr>
        <p:txBody>
          <a:bodyPr/>
          <a:lstStyle/>
          <a:p>
            <a:endParaRPr lang="es-PE" sz="1350"/>
          </a:p>
        </p:txBody>
      </p:sp>
      <p:sp>
        <p:nvSpPr>
          <p:cNvPr id="31" name="Text 29"/>
          <p:cNvSpPr txBox="1"/>
          <p:nvPr/>
        </p:nvSpPr>
        <p:spPr>
          <a:xfrm>
            <a:off x="377190" y="3970588"/>
            <a:ext cx="3017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CADCFC"/>
                </a:solidFill>
                <a:ea typeface="Cambria" pitchFamily="34" charset="-122"/>
                <a:cs typeface="Cambria" pitchFamily="34" charset="-120"/>
              </a:rPr>
              <a:t>Datos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77189" y="4148896"/>
            <a:ext cx="1529335" cy="582930"/>
          </a:xfrm>
          <a:prstGeom prst="roundRect">
            <a:avLst>
              <a:gd name="adj" fmla="val 8824"/>
            </a:avLst>
          </a:prstGeom>
          <a:solidFill>
            <a:srgbClr val="141B49"/>
          </a:solidFill>
          <a:ln w="95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PE" sz="1350"/>
          </a:p>
        </p:txBody>
      </p:sp>
      <p:sp>
        <p:nvSpPr>
          <p:cNvPr id="33" name="Text 31"/>
          <p:cNvSpPr txBox="1"/>
          <p:nvPr/>
        </p:nvSpPr>
        <p:spPr>
          <a:xfrm>
            <a:off x="502920" y="4196902"/>
            <a:ext cx="13213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FFFFFF"/>
                </a:solidFill>
                <a:ea typeface="Cambria" pitchFamily="34" charset="-122"/>
                <a:cs typeface="Cambria" pitchFamily="34" charset="-120"/>
              </a:rPr>
              <a:t>5 CSV estructurados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437322" y="4375210"/>
            <a:ext cx="1386906" cy="2263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05000"/>
              </a:lnSpc>
            </a:pPr>
            <a:r>
              <a:rPr lang="en-US" sz="600" dirty="0">
                <a:solidFill>
                  <a:srgbClr val="CADCFC"/>
                </a:solidFill>
                <a:ea typeface="Calibri" pitchFamily="34" charset="-122"/>
                <a:cs typeface="Calibri" pitchFamily="34" charset="-120"/>
              </a:rPr>
              <a:t>alumno · trámites · matrícula ·</a:t>
            </a:r>
            <a:endParaRPr lang="en-US" sz="600" dirty="0"/>
          </a:p>
          <a:p>
            <a:pPr>
              <a:lnSpc>
                <a:spcPct val="105000"/>
              </a:lnSpc>
            </a:pPr>
            <a:r>
              <a:rPr lang="en-US" sz="600" dirty="0">
                <a:solidFill>
                  <a:srgbClr val="CADCFC"/>
                </a:solidFill>
                <a:ea typeface="Calibri" pitchFamily="34" charset="-122"/>
                <a:cs typeface="Calibri" pitchFamily="34" charset="-120"/>
              </a:rPr>
              <a:t>situación académica · notas</a:t>
            </a:r>
            <a:endParaRPr lang="en-US" sz="600" dirty="0"/>
          </a:p>
        </p:txBody>
      </p:sp>
      <p:sp>
        <p:nvSpPr>
          <p:cNvPr id="35" name="Shape 33"/>
          <p:cNvSpPr/>
          <p:nvPr/>
        </p:nvSpPr>
        <p:spPr>
          <a:xfrm>
            <a:off x="2002536" y="4148896"/>
            <a:ext cx="1472178" cy="582930"/>
          </a:xfrm>
          <a:prstGeom prst="roundRect">
            <a:avLst>
              <a:gd name="adj" fmla="val 8824"/>
            </a:avLst>
          </a:prstGeom>
          <a:solidFill>
            <a:srgbClr val="141B49"/>
          </a:solidFill>
          <a:ln w="95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PE" sz="1350"/>
          </a:p>
        </p:txBody>
      </p:sp>
      <p:sp>
        <p:nvSpPr>
          <p:cNvPr id="36" name="Text 34"/>
          <p:cNvSpPr txBox="1"/>
          <p:nvPr/>
        </p:nvSpPr>
        <p:spPr>
          <a:xfrm>
            <a:off x="2084832" y="4196902"/>
            <a:ext cx="1241298" cy="1236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FFFFFF"/>
                </a:solidFill>
                <a:ea typeface="Cambria" pitchFamily="34" charset="-122"/>
                <a:cs typeface="Cambria" pitchFamily="34" charset="-120"/>
              </a:rPr>
              <a:t>Elasticsearch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2071116" y="4375210"/>
            <a:ext cx="1323594" cy="2263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05000"/>
              </a:lnSpc>
            </a:pPr>
            <a:r>
              <a:rPr lang="en-US" sz="600" dirty="0">
                <a:solidFill>
                  <a:srgbClr val="CADCFC"/>
                </a:solidFill>
                <a:ea typeface="Calibri" pitchFamily="34" charset="-122"/>
                <a:cs typeface="Calibri" pitchFamily="34" charset="-120"/>
              </a:rPr>
              <a:t>Índice vectorial RAG (LlamaIndex)</a:t>
            </a:r>
            <a:endParaRPr lang="en-US" sz="600" dirty="0"/>
          </a:p>
          <a:p>
            <a:pPr>
              <a:lnSpc>
                <a:spcPct val="105000"/>
              </a:lnSpc>
            </a:pPr>
            <a:r>
              <a:rPr lang="en-US" sz="600" dirty="0">
                <a:solidFill>
                  <a:srgbClr val="CADCFC"/>
                </a:solidFill>
                <a:ea typeface="Calibri" pitchFamily="34" charset="-122"/>
                <a:cs typeface="Calibri" pitchFamily="34" charset="-120"/>
              </a:rPr>
              <a:t>Bachiller · Constancia/Certificado</a:t>
            </a:r>
            <a:endParaRPr lang="en-US" sz="600" dirty="0"/>
          </a:p>
        </p:txBody>
      </p:sp>
      <p:sp>
        <p:nvSpPr>
          <p:cNvPr id="39" name="Text 37"/>
          <p:cNvSpPr txBox="1"/>
          <p:nvPr/>
        </p:nvSpPr>
        <p:spPr>
          <a:xfrm>
            <a:off x="4251960" y="534924"/>
            <a:ext cx="438912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950" b="1" dirty="0">
                <a:solidFill>
                  <a:srgbClr val="1B2340"/>
                </a:solidFill>
                <a:ea typeface="Cambria" pitchFamily="34" charset="-122"/>
                <a:cs typeface="Cambria" pitchFamily="34" charset="-120"/>
              </a:rPr>
              <a:t>¿Por qué una arquitectura híbrida?</a:t>
            </a:r>
            <a:endParaRPr lang="en-US" sz="1950" dirty="0"/>
          </a:p>
        </p:txBody>
      </p:sp>
      <p:sp>
        <p:nvSpPr>
          <p:cNvPr id="40" name="Shape 38"/>
          <p:cNvSpPr/>
          <p:nvPr/>
        </p:nvSpPr>
        <p:spPr>
          <a:xfrm>
            <a:off x="4251960" y="1337310"/>
            <a:ext cx="4389120" cy="788670"/>
          </a:xfrm>
          <a:prstGeom prst="rect">
            <a:avLst/>
          </a:prstGeom>
          <a:solidFill>
            <a:srgbClr val="F4F7FD"/>
          </a:solidFill>
          <a:ln/>
        </p:spPr>
        <p:txBody>
          <a:bodyPr/>
          <a:lstStyle/>
          <a:p>
            <a:endParaRPr lang="es-PE" sz="1350"/>
          </a:p>
        </p:txBody>
      </p:sp>
      <p:sp>
        <p:nvSpPr>
          <p:cNvPr id="41" name="Text 39"/>
          <p:cNvSpPr txBox="1"/>
          <p:nvPr/>
        </p:nvSpPr>
        <p:spPr>
          <a:xfrm>
            <a:off x="4423410" y="1440180"/>
            <a:ext cx="4046220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rgbClr val="5B6B8C"/>
                </a:solidFill>
                <a:ea typeface="Cambria" pitchFamily="34" charset="-122"/>
                <a:cs typeface="Cambria" pitchFamily="34" charset="-120"/>
              </a:rPr>
              <a:t>✗  Solo Agente (100% LLM)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4423410" y="1693926"/>
            <a:ext cx="4046220" cy="3771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1B2340"/>
                </a:solidFill>
                <a:ea typeface="Calibri" pitchFamily="34" charset="-122"/>
                <a:cs typeface="Calibri" pitchFamily="34" charset="-120"/>
              </a:rPr>
              <a:t>Conversación flexible, pero el modelo </a:t>
            </a:r>
            <a:r>
              <a:rPr lang="en-US" sz="900" dirty="0" err="1">
                <a:solidFill>
                  <a:srgbClr val="1B2340"/>
                </a:solidFill>
                <a:ea typeface="Calibri" pitchFamily="34" charset="-122"/>
                <a:cs typeface="Calibri" pitchFamily="34" charset="-120"/>
              </a:rPr>
              <a:t>podría</a:t>
            </a:r>
            <a:r>
              <a:rPr lang="en-US" sz="900" dirty="0">
                <a:solidFill>
                  <a:srgbClr val="1B2340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1B2340"/>
                </a:solidFill>
                <a:ea typeface="Calibri" pitchFamily="34" charset="-122"/>
                <a:cs typeface="Calibri" pitchFamily="34" charset="-120"/>
              </a:rPr>
              <a:t>interpretar</a:t>
            </a:r>
            <a:r>
              <a:rPr lang="en-US" sz="900" dirty="0">
                <a:solidFill>
                  <a:srgbClr val="1B2340"/>
                </a:solidFill>
                <a:ea typeface="Calibri" pitchFamily="34" charset="-122"/>
                <a:cs typeface="Calibri" pitchFamily="34" charset="-120"/>
              </a:rPr>
              <a:t> o “calcular” reglas de elegibilidad de forma inconsistente.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251960" y="2228850"/>
            <a:ext cx="4389120" cy="788670"/>
          </a:xfrm>
          <a:prstGeom prst="rect">
            <a:avLst/>
          </a:prstGeom>
          <a:solidFill>
            <a:srgbClr val="F4F7FD"/>
          </a:solidFill>
          <a:ln/>
        </p:spPr>
        <p:txBody>
          <a:bodyPr/>
          <a:lstStyle/>
          <a:p>
            <a:endParaRPr lang="es-PE" sz="1350"/>
          </a:p>
        </p:txBody>
      </p:sp>
      <p:sp>
        <p:nvSpPr>
          <p:cNvPr id="44" name="Text 42"/>
          <p:cNvSpPr txBox="1"/>
          <p:nvPr/>
        </p:nvSpPr>
        <p:spPr>
          <a:xfrm>
            <a:off x="4423410" y="2331720"/>
            <a:ext cx="4046220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rgbClr val="5B6B8C"/>
                </a:solidFill>
                <a:ea typeface="Cambria" pitchFamily="34" charset="-122"/>
                <a:cs typeface="Cambria" pitchFamily="34" charset="-120"/>
              </a:rPr>
              <a:t>✗  Solo Workflow (100% código)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4423410" y="2585466"/>
            <a:ext cx="4046220" cy="3771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1B2340"/>
                </a:solidFill>
                <a:ea typeface="Calibri" pitchFamily="34" charset="-122"/>
                <a:cs typeface="Calibri" pitchFamily="34" charset="-120"/>
              </a:rPr>
              <a:t>Resultados exactos y auditables, pero rígido: mala experiencia si el alumno se expresa libremente.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251960" y="3120390"/>
            <a:ext cx="4389120" cy="1200150"/>
          </a:xfrm>
          <a:prstGeom prst="rect">
            <a:avLst/>
          </a:prstGeom>
          <a:solidFill>
            <a:srgbClr val="E8EFFC"/>
          </a:solidFill>
          <a:ln/>
        </p:spPr>
        <p:txBody>
          <a:bodyPr/>
          <a:lstStyle/>
          <a:p>
            <a:endParaRPr lang="es-PE" sz="1350"/>
          </a:p>
        </p:txBody>
      </p:sp>
      <p:sp>
        <p:nvSpPr>
          <p:cNvPr id="47" name="Text 45"/>
          <p:cNvSpPr txBox="1"/>
          <p:nvPr/>
        </p:nvSpPr>
        <p:spPr>
          <a:xfrm>
            <a:off x="4423410" y="3223260"/>
            <a:ext cx="4046220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rgbClr val="1E2761"/>
                </a:solidFill>
                <a:ea typeface="Cambria" pitchFamily="34" charset="-122"/>
                <a:cs typeface="Cambria" pitchFamily="34" charset="-120"/>
              </a:rPr>
              <a:t>✓  Híbrido + RAG (elegido)</a:t>
            </a:r>
            <a:endParaRPr lang="en-US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4423410" y="3477006"/>
            <a:ext cx="4046220" cy="788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1B2340"/>
                </a:solidFill>
                <a:ea typeface="Calibri" pitchFamily="34" charset="-122"/>
                <a:cs typeface="Calibri" pitchFamily="34" charset="-120"/>
              </a:rPr>
              <a:t>El Agente conduce el diálogo; el Workflow (LCEL) determinista ejecuta las reglas de negocio EXACTAS; y el RAG (Elasticsearch) resuelve el conocimiento no estructurado (FAQ, requisitos) con búsqueda semántica, sin necesidad de codificar cada respuesta.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8526551" y="4800600"/>
            <a:ext cx="41148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7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F2ADF-7565-9D26-2CCF-54FDF1D51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9F955AC-81B2-B05E-6B5D-5E64D2D8F787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 err="1">
                <a:solidFill>
                  <a:schemeClr val="tx1"/>
                </a:solidFill>
              </a:rPr>
              <a:t>Arquitectura</a:t>
            </a:r>
            <a:r>
              <a:rPr lang="en-US" sz="3000" b="1" dirty="0">
                <a:solidFill>
                  <a:schemeClr val="tx1"/>
                </a:solidFill>
              </a:rPr>
              <a:t> del Sistema</a:t>
            </a:r>
            <a:endParaRPr lang="en-US" sz="3000" dirty="0"/>
          </a:p>
        </p:txBody>
      </p:sp>
      <p:sp>
        <p:nvSpPr>
          <p:cNvPr id="3" name="Alumno">
            <a:extLst>
              <a:ext uri="{FF2B5EF4-FFF2-40B4-BE49-F238E27FC236}">
                <a16:creationId xmlns:a16="http://schemas.microsoft.com/office/drawing/2014/main" id="{2959513F-1D83-2786-349D-4A79C96A8CD6}"/>
              </a:ext>
            </a:extLst>
          </p:cNvPr>
          <p:cNvSpPr/>
          <p:nvPr/>
        </p:nvSpPr>
        <p:spPr>
          <a:xfrm>
            <a:off x="457200" y="1371600"/>
            <a:ext cx="1554480" cy="20116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690A0EA-EB01-F3D8-D53D-6AB069EF92AD}"/>
              </a:ext>
            </a:extLst>
          </p:cNvPr>
          <p:cNvSpPr txBox="1"/>
          <p:nvPr/>
        </p:nvSpPr>
        <p:spPr>
          <a:xfrm>
            <a:off x="548640" y="148132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Alumno</a:t>
            </a:r>
            <a:endParaRPr lang="en-US" sz="15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F936FE8-579A-563C-D2FD-202F6D8B3345}"/>
              </a:ext>
            </a:extLst>
          </p:cNvPr>
          <p:cNvSpPr txBox="1"/>
          <p:nvPr/>
        </p:nvSpPr>
        <p:spPr>
          <a:xfrm>
            <a:off x="548640" y="1874520"/>
            <a:ext cx="1371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Navegador web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(chat, vista previa y pago)</a:t>
            </a:r>
            <a:endParaRPr lang="en-US" sz="1200" dirty="0"/>
          </a:p>
        </p:txBody>
      </p:sp>
      <p:sp>
        <p:nvSpPr>
          <p:cNvPr id="6" name="Cloud Run">
            <a:extLst>
              <a:ext uri="{FF2B5EF4-FFF2-40B4-BE49-F238E27FC236}">
                <a16:creationId xmlns:a16="http://schemas.microsoft.com/office/drawing/2014/main" id="{D2C5F286-74EE-EB8E-1FAC-438094AD3472}"/>
              </a:ext>
            </a:extLst>
          </p:cNvPr>
          <p:cNvSpPr/>
          <p:nvPr/>
        </p:nvSpPr>
        <p:spPr>
          <a:xfrm>
            <a:off x="2377440" y="1371600"/>
            <a:ext cx="1828800" cy="2011680"/>
          </a:xfrm>
          <a:prstGeom prst="roundRect">
            <a:avLst>
              <a:gd name="adj" fmla="val 4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C568E3D-8887-8191-EC7B-8D5E80145CE9}"/>
              </a:ext>
            </a:extLst>
          </p:cNvPr>
          <p:cNvSpPr txBox="1"/>
          <p:nvPr/>
        </p:nvSpPr>
        <p:spPr>
          <a:xfrm>
            <a:off x="2468880" y="148132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Cloud Run</a:t>
            </a:r>
            <a:endParaRPr lang="en-US" sz="15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19B8455-6D0C-CDCC-BA0E-DE6455E6CA78}"/>
              </a:ext>
            </a:extLst>
          </p:cNvPr>
          <p:cNvSpPr txBox="1"/>
          <p:nvPr/>
        </p:nvSpPr>
        <p:spPr>
          <a:xfrm>
            <a:off x="2468880" y="1874520"/>
            <a:ext cx="1645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FastAPI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API + interfaz web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en un solo servicio</a:t>
            </a:r>
            <a:endParaRPr lang="en-US" sz="1200" dirty="0"/>
          </a:p>
        </p:txBody>
      </p:sp>
      <p:sp>
        <p:nvSpPr>
          <p:cNvPr id="9" name="Agente">
            <a:extLst>
              <a:ext uri="{FF2B5EF4-FFF2-40B4-BE49-F238E27FC236}">
                <a16:creationId xmlns:a16="http://schemas.microsoft.com/office/drawing/2014/main" id="{93E86312-7023-1632-461D-A73DDD4EA519}"/>
              </a:ext>
            </a:extLst>
          </p:cNvPr>
          <p:cNvSpPr/>
          <p:nvPr/>
        </p:nvSpPr>
        <p:spPr>
          <a:xfrm>
            <a:off x="4572000" y="1371600"/>
            <a:ext cx="1828800" cy="201168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E2E9BD5-A814-0112-F8E6-3002F8B7D631}"/>
              </a:ext>
            </a:extLst>
          </p:cNvPr>
          <p:cNvSpPr txBox="1"/>
          <p:nvPr/>
        </p:nvSpPr>
        <p:spPr>
          <a:xfrm>
            <a:off x="4663440" y="148132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Agente</a:t>
            </a:r>
            <a:endParaRPr lang="en-US" sz="15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129A0A6-F86A-5AAD-1E31-EF73DAE03337}"/>
              </a:ext>
            </a:extLst>
          </p:cNvPr>
          <p:cNvSpPr txBox="1"/>
          <p:nvPr/>
        </p:nvSpPr>
        <p:spPr>
          <a:xfrm>
            <a:off x="4663440" y="1874520"/>
            <a:ext cx="1645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LangChain + GPT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8 herramientas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prompt de dominio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memoria por alumno</a:t>
            </a:r>
            <a:endParaRPr lang="en-US" sz="1200" dirty="0"/>
          </a:p>
        </p:txBody>
      </p:sp>
      <p:sp>
        <p:nvSpPr>
          <p:cNvPr id="12" name="Reglas">
            <a:extLst>
              <a:ext uri="{FF2B5EF4-FFF2-40B4-BE49-F238E27FC236}">
                <a16:creationId xmlns:a16="http://schemas.microsoft.com/office/drawing/2014/main" id="{A766F4E4-169E-62AE-91C5-26C8A6B896A1}"/>
              </a:ext>
            </a:extLst>
          </p:cNvPr>
          <p:cNvSpPr/>
          <p:nvPr/>
        </p:nvSpPr>
        <p:spPr>
          <a:xfrm>
            <a:off x="6766560" y="1371600"/>
            <a:ext cx="192024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58A2BD00-4FA3-65B4-C1F4-06AE4D7C82E4}"/>
              </a:ext>
            </a:extLst>
          </p:cNvPr>
          <p:cNvSpPr txBox="1"/>
          <p:nvPr/>
        </p:nvSpPr>
        <p:spPr>
          <a:xfrm>
            <a:off x="6858000" y="148132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Reglas en código</a:t>
            </a:r>
            <a:endParaRPr lang="en-US" sz="15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B4FE3C6-B795-FD0C-F9C5-046A038B60D0}"/>
              </a:ext>
            </a:extLst>
          </p:cNvPr>
          <p:cNvSpPr txBox="1"/>
          <p:nvPr/>
        </p:nvSpPr>
        <p:spPr>
          <a:xfrm>
            <a:off x="6858000" y="18745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5 CSV · pandas · LCEL</a:t>
            </a:r>
            <a:endParaRPr lang="en-US" sz="1200" dirty="0"/>
          </a:p>
        </p:txBody>
      </p:sp>
      <p:sp>
        <p:nvSpPr>
          <p:cNvPr id="15" name="RAG">
            <a:extLst>
              <a:ext uri="{FF2B5EF4-FFF2-40B4-BE49-F238E27FC236}">
                <a16:creationId xmlns:a16="http://schemas.microsoft.com/office/drawing/2014/main" id="{E3DF5AD9-28C6-1DCA-FE1B-4ABA1A0DD002}"/>
              </a:ext>
            </a:extLst>
          </p:cNvPr>
          <p:cNvSpPr/>
          <p:nvPr/>
        </p:nvSpPr>
        <p:spPr>
          <a:xfrm>
            <a:off x="6766560" y="2468880"/>
            <a:ext cx="192024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E11F302C-D759-CC9C-AFB8-7A389C250C8D}"/>
              </a:ext>
            </a:extLst>
          </p:cNvPr>
          <p:cNvSpPr txBox="1"/>
          <p:nvPr/>
        </p:nvSpPr>
        <p:spPr>
          <a:xfrm>
            <a:off x="6858000" y="257860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RAG</a:t>
            </a:r>
            <a:endParaRPr lang="en-US" sz="15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BA1D82B2-0418-18CB-1662-E72F5EF42853}"/>
              </a:ext>
            </a:extLst>
          </p:cNvPr>
          <p:cNvSpPr txBox="1"/>
          <p:nvPr/>
        </p:nvSpPr>
        <p:spPr>
          <a:xfrm>
            <a:off x="6858000" y="29718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LlamaIndex + Elasticsearch</a:t>
            </a:r>
            <a:endParaRPr lang="en-US" sz="12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D66555C1-E637-6694-5D19-FC111BC58717}"/>
              </a:ext>
            </a:extLst>
          </p:cNvPr>
          <p:cNvSpPr/>
          <p:nvPr/>
        </p:nvSpPr>
        <p:spPr>
          <a:xfrm>
            <a:off x="2011680" y="2377440"/>
            <a:ext cx="36576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9E10AE09-D84C-6044-CB98-48102D54D84C}"/>
              </a:ext>
            </a:extLst>
          </p:cNvPr>
          <p:cNvSpPr/>
          <p:nvPr/>
        </p:nvSpPr>
        <p:spPr>
          <a:xfrm>
            <a:off x="4206240" y="2377440"/>
            <a:ext cx="36576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B4766DF0-CDD5-448D-58C1-F451C84BC7F9}"/>
              </a:ext>
            </a:extLst>
          </p:cNvPr>
          <p:cNvSpPr/>
          <p:nvPr/>
        </p:nvSpPr>
        <p:spPr>
          <a:xfrm>
            <a:off x="6400800" y="1828800"/>
            <a:ext cx="36576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7FEE4D7A-2C8A-27E0-8974-5333DAA60F67}"/>
              </a:ext>
            </a:extLst>
          </p:cNvPr>
          <p:cNvSpPr/>
          <p:nvPr/>
        </p:nvSpPr>
        <p:spPr>
          <a:xfrm>
            <a:off x="6400800" y="2926080"/>
            <a:ext cx="36576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22" name="Servicios de apoyo">
            <a:extLst>
              <a:ext uri="{FF2B5EF4-FFF2-40B4-BE49-F238E27FC236}">
                <a16:creationId xmlns:a16="http://schemas.microsoft.com/office/drawing/2014/main" id="{E77DE111-B530-B42A-3AD2-655A7C72E764}"/>
              </a:ext>
            </a:extLst>
          </p:cNvPr>
          <p:cNvSpPr/>
          <p:nvPr/>
        </p:nvSpPr>
        <p:spPr>
          <a:xfrm>
            <a:off x="457200" y="3703320"/>
            <a:ext cx="822960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88B713FE-82E9-68D7-AADA-A2CA313BA1F6}"/>
              </a:ext>
            </a:extLst>
          </p:cNvPr>
          <p:cNvSpPr txBox="1"/>
          <p:nvPr/>
        </p:nvSpPr>
        <p:spPr>
          <a:xfrm>
            <a:off x="640080" y="37673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Secret Manager</a:t>
            </a:r>
            <a:endParaRPr lang="en-US" sz="14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87BF637E-C855-D4C5-4BFF-8A16AADA9FCA}"/>
              </a:ext>
            </a:extLst>
          </p:cNvPr>
          <p:cNvSpPr txBox="1"/>
          <p:nvPr/>
        </p:nvSpPr>
        <p:spPr>
          <a:xfrm>
            <a:off x="640080" y="40873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claves fuera del código</a:t>
            </a:r>
            <a:endParaRPr lang="en-US" sz="12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14A9F41F-8E82-19DB-8A1E-623193292325}"/>
              </a:ext>
            </a:extLst>
          </p:cNvPr>
          <p:cNvSpPr txBox="1"/>
          <p:nvPr/>
        </p:nvSpPr>
        <p:spPr>
          <a:xfrm>
            <a:off x="3337560" y="37673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Cloud Build</a:t>
            </a:r>
            <a:endParaRPr lang="en-US" sz="14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960ED2BF-4C52-0A26-152D-5E156F58FC26}"/>
              </a:ext>
            </a:extLst>
          </p:cNvPr>
          <p:cNvSpPr txBox="1"/>
          <p:nvPr/>
        </p:nvSpPr>
        <p:spPr>
          <a:xfrm>
            <a:off x="3337560" y="40873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imagen desde el Dockerfile</a:t>
            </a:r>
            <a:endParaRPr lang="en-US" sz="12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BDB02364-C0F5-7836-4C69-C1E736CAAAE9}"/>
              </a:ext>
            </a:extLst>
          </p:cNvPr>
          <p:cNvSpPr txBox="1"/>
          <p:nvPr/>
        </p:nvSpPr>
        <p:spPr>
          <a:xfrm>
            <a:off x="6035040" y="37673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LangSmith</a:t>
            </a:r>
            <a:endParaRPr lang="en-US" sz="14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8D0883DF-C576-EC3B-25BB-B7B5FAFF7D72}"/>
              </a:ext>
            </a:extLst>
          </p:cNvPr>
          <p:cNvSpPr txBox="1"/>
          <p:nvPr/>
        </p:nvSpPr>
        <p:spPr>
          <a:xfrm>
            <a:off x="6035040" y="40873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trazabilidad del agente</a:t>
            </a:r>
            <a:endParaRPr lang="en-US" sz="1200" dirty="0"/>
          </a:p>
        </p:txBody>
      </p:sp>
      <p:sp>
        <p:nvSpPr>
          <p:cNvPr id="29" name="Slide Number Placeholder 0">
            <a:extLst>
              <a:ext uri="{FF2B5EF4-FFF2-40B4-BE49-F238E27FC236}">
                <a16:creationId xmlns:a16="http://schemas.microsoft.com/office/drawing/2014/main" id="{C89D0CCF-95F0-E82B-181A-FA92387DDDE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6321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RAG: LlamaIndex + LangChain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Indexación (offline) · LlamaIndex</a:t>
            </a:r>
            <a:endParaRPr lang="en-US" sz="1500" dirty="0"/>
          </a:p>
        </p:txBody>
      </p:sp>
      <p:sp>
        <p:nvSpPr>
          <p:cNvPr id="4" name="Páginas web Bachiller · FAQ"/>
          <p:cNvSpPr/>
          <p:nvPr/>
        </p:nvSpPr>
        <p:spPr>
          <a:xfrm>
            <a:off x="457200" y="1581912"/>
            <a:ext cx="1463040" cy="73152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 txBox="1"/>
          <p:nvPr/>
        </p:nvSpPr>
        <p:spPr>
          <a:xfrm>
            <a:off x="502920" y="15819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Páginas web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Bachiller · FAQ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938528" y="1947672"/>
            <a:ext cx="192024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7" name="SimpleWebPage Reader"/>
          <p:cNvSpPr/>
          <p:nvPr/>
        </p:nvSpPr>
        <p:spPr>
          <a:xfrm>
            <a:off x="2148840" y="1581912"/>
            <a:ext cx="146304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 txBox="1"/>
          <p:nvPr/>
        </p:nvSpPr>
        <p:spPr>
          <a:xfrm>
            <a:off x="2194560" y="15819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SimpleWebPage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Reader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30168" y="1947672"/>
            <a:ext cx="192024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10" name="SentenceSplitter 800 · overlap 150"/>
          <p:cNvSpPr/>
          <p:nvPr/>
        </p:nvSpPr>
        <p:spPr>
          <a:xfrm>
            <a:off x="3840480" y="1581912"/>
            <a:ext cx="146304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 txBox="1"/>
          <p:nvPr/>
        </p:nvSpPr>
        <p:spPr>
          <a:xfrm>
            <a:off x="3886200" y="15819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SentenceSplitter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800 · overlap 150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21808" y="1947672"/>
            <a:ext cx="192024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13" name="OpenAIEmbedding 3-large"/>
          <p:cNvSpPr/>
          <p:nvPr/>
        </p:nvSpPr>
        <p:spPr>
          <a:xfrm>
            <a:off x="5532120" y="1581912"/>
            <a:ext cx="146304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 txBox="1"/>
          <p:nvPr/>
        </p:nvSpPr>
        <p:spPr>
          <a:xfrm>
            <a:off x="5577840" y="15819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OpenAIEmbedding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3-large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013448" y="1947672"/>
            <a:ext cx="192024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16" name="Elasticsearch almacenamiento"/>
          <p:cNvSpPr/>
          <p:nvPr/>
        </p:nvSpPr>
        <p:spPr>
          <a:xfrm>
            <a:off x="7223760" y="1581912"/>
            <a:ext cx="1463040" cy="731520"/>
          </a:xfrm>
          <a:prstGeom prst="roundRect">
            <a:avLst>
              <a:gd name="adj" fmla="val 10000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7" name="Text 15"/>
          <p:cNvSpPr txBox="1"/>
          <p:nvPr/>
        </p:nvSpPr>
        <p:spPr>
          <a:xfrm>
            <a:off x="7269480" y="15819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Elasticsearch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almacenamiento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2606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Consulta en línea · LlamaIndex + LangChain</a:t>
            </a:r>
            <a:endParaRPr lang="en-US" sz="1500" dirty="0"/>
          </a:p>
        </p:txBody>
      </p:sp>
      <p:sp>
        <p:nvSpPr>
          <p:cNvPr id="19" name="Pregunta del alumno"/>
          <p:cNvSpPr/>
          <p:nvPr/>
        </p:nvSpPr>
        <p:spPr>
          <a:xfrm>
            <a:off x="457200" y="2953512"/>
            <a:ext cx="1885950" cy="73152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0" name="Text 18"/>
          <p:cNvSpPr txBox="1"/>
          <p:nvPr/>
        </p:nvSpPr>
        <p:spPr>
          <a:xfrm>
            <a:off x="502920" y="2953512"/>
            <a:ext cx="179451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Pregunta del alumno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361438" y="3319272"/>
            <a:ext cx="192024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22" name="Retriever filtro por trámite · top-k 4"/>
          <p:cNvSpPr/>
          <p:nvPr/>
        </p:nvSpPr>
        <p:spPr>
          <a:xfrm>
            <a:off x="2571750" y="2953512"/>
            <a:ext cx="188595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3" name="Text 21"/>
          <p:cNvSpPr txBox="1"/>
          <p:nvPr/>
        </p:nvSpPr>
        <p:spPr>
          <a:xfrm>
            <a:off x="2617470" y="2953512"/>
            <a:ext cx="179451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Retriever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filtro por trámite · top-k 4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475988" y="3319272"/>
            <a:ext cx="192024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25" name="Herramienta puente RunnableLambda"/>
          <p:cNvSpPr/>
          <p:nvPr/>
        </p:nvSpPr>
        <p:spPr>
          <a:xfrm>
            <a:off x="4686300" y="2953512"/>
            <a:ext cx="1885950" cy="731520"/>
          </a:xfrm>
          <a:prstGeom prst="roundRect">
            <a:avLst>
              <a:gd name="adj" fmla="val 10000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6" name="Text 24"/>
          <p:cNvSpPr txBox="1"/>
          <p:nvPr/>
        </p:nvSpPr>
        <p:spPr>
          <a:xfrm>
            <a:off x="4732020" y="2953512"/>
            <a:ext cx="179451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Herramienta puente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RunnableLambda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590538" y="3319272"/>
            <a:ext cx="192024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28" name="Agente LangChain decide y responde"/>
          <p:cNvSpPr/>
          <p:nvPr/>
        </p:nvSpPr>
        <p:spPr>
          <a:xfrm>
            <a:off x="6800850" y="2953512"/>
            <a:ext cx="1885950" cy="73152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9" name="Text 27"/>
          <p:cNvSpPr txBox="1"/>
          <p:nvPr/>
        </p:nvSpPr>
        <p:spPr>
          <a:xfrm>
            <a:off x="6846570" y="2953512"/>
            <a:ext cx="179451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Agente LangChain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decide y responde</a:t>
            </a:r>
            <a:endParaRPr lang="en-US" sz="1200" dirty="0"/>
          </a:p>
        </p:txBody>
      </p:sp>
      <p:sp>
        <p:nvSpPr>
          <p:cNvPr id="30" name="Nota RAG"/>
          <p:cNvSpPr/>
          <p:nvPr/>
        </p:nvSpPr>
        <p:spPr>
          <a:xfrm>
            <a:off x="457200" y="402336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1" name="Text 29"/>
          <p:cNvSpPr txBox="1"/>
          <p:nvPr/>
        </p:nvSpPr>
        <p:spPr>
          <a:xfrm>
            <a:off x="685800" y="4023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El RAG solo responde información general. La elegibilidad nunca depende de él.</a:t>
            </a:r>
            <a:endParaRPr lang="en-US" sz="14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Herramientas: 6 deterministas + 2 RAG</a:t>
            </a:r>
            <a:endParaRPr lang="en-US" sz="3000" dirty="0"/>
          </a:p>
        </p:txBody>
      </p:sp>
      <p:sp>
        <p:nvSpPr>
          <p:cNvPr id="3" name="buscar_alumno"/>
          <p:cNvSpPr/>
          <p:nvPr/>
        </p:nvSpPr>
        <p:spPr>
          <a:xfrm>
            <a:off x="457200" y="1280160"/>
            <a:ext cx="402336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 txBox="1"/>
          <p:nvPr/>
        </p:nvSpPr>
        <p:spPr>
          <a:xfrm>
            <a:off x="640080" y="13441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buscar_alumno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@tool</a:t>
            </a:r>
            <a:r>
              <a:rPr lang="en-US" sz="1200" dirty="0">
                <a:solidFill>
                  <a:schemeClr val="accent5"/>
                </a:solidFill>
              </a:rPr>
              <a:t>  ·  Identifica y saluda al alumno</a:t>
            </a:r>
            <a:endParaRPr lang="en-US" sz="1200" dirty="0"/>
          </a:p>
        </p:txBody>
      </p:sp>
      <p:sp>
        <p:nvSpPr>
          <p:cNvPr id="6" name="listar_tramites"/>
          <p:cNvSpPr/>
          <p:nvPr/>
        </p:nvSpPr>
        <p:spPr>
          <a:xfrm>
            <a:off x="457200" y="2103120"/>
            <a:ext cx="402336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 txBox="1"/>
          <p:nvPr/>
        </p:nvSpPr>
        <p:spPr>
          <a:xfrm>
            <a:off x="640080" y="21671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listar_tramites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468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@tool + Annotated</a:t>
            </a:r>
            <a:r>
              <a:rPr lang="en-US" sz="1200" dirty="0">
                <a:solidFill>
                  <a:schemeClr val="accent5"/>
                </a:solidFill>
              </a:rPr>
              <a:t>  ·  Catálogo, precios y entrega</a:t>
            </a:r>
            <a:endParaRPr lang="en-US" sz="1200" dirty="0"/>
          </a:p>
        </p:txBody>
      </p:sp>
      <p:sp>
        <p:nvSpPr>
          <p:cNvPr id="9" name="validar_constancia_matricula"/>
          <p:cNvSpPr/>
          <p:nvPr/>
        </p:nvSpPr>
        <p:spPr>
          <a:xfrm>
            <a:off x="457200" y="2926080"/>
            <a:ext cx="402336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 txBox="1"/>
          <p:nvPr/>
        </p:nvSpPr>
        <p:spPr>
          <a:xfrm>
            <a:off x="640080" y="29900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validar_constancia_matricula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291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StructuredTool</a:t>
            </a:r>
            <a:r>
              <a:rPr lang="en-US" sz="1200" dirty="0">
                <a:solidFill>
                  <a:schemeClr val="accent5"/>
                </a:solidFill>
              </a:rPr>
              <a:t>  ·  Matrícula vigente en 2026</a:t>
            </a:r>
            <a:endParaRPr lang="en-US" sz="1200" dirty="0"/>
          </a:p>
        </p:txBody>
      </p:sp>
      <p:sp>
        <p:nvSpPr>
          <p:cNvPr id="12" name="validar_certificado_estudios"/>
          <p:cNvSpPr/>
          <p:nvPr/>
        </p:nvSpPr>
        <p:spPr>
          <a:xfrm>
            <a:off x="457200" y="3749040"/>
            <a:ext cx="402336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 txBox="1"/>
          <p:nvPr/>
        </p:nvSpPr>
        <p:spPr>
          <a:xfrm>
            <a:off x="640080" y="38130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validar_certificado_estudios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114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BaseTool</a:t>
            </a:r>
            <a:r>
              <a:rPr lang="en-US" sz="1200" dirty="0">
                <a:solidFill>
                  <a:schemeClr val="accent5"/>
                </a:solidFill>
              </a:rPr>
              <a:t>  ·  Historial académico registrado</a:t>
            </a:r>
            <a:endParaRPr lang="en-US" sz="1200" dirty="0"/>
          </a:p>
        </p:txBody>
      </p:sp>
      <p:sp>
        <p:nvSpPr>
          <p:cNvPr id="15" name="validar_bachiller_elegibilidad"/>
          <p:cNvSpPr/>
          <p:nvPr/>
        </p:nvSpPr>
        <p:spPr>
          <a:xfrm>
            <a:off x="4663440" y="1280160"/>
            <a:ext cx="402336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6" name="Text 14"/>
          <p:cNvSpPr txBox="1"/>
          <p:nvPr/>
        </p:nvSpPr>
        <p:spPr>
          <a:xfrm>
            <a:off x="4846320" y="13441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validar_bachiller_elegibilidad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1645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StructuredTool + LCEL</a:t>
            </a:r>
            <a:r>
              <a:rPr lang="en-US" sz="1200" dirty="0">
                <a:solidFill>
                  <a:schemeClr val="accent5"/>
                </a:solidFill>
              </a:rPr>
              <a:t>  ·  3 condiciones en paralelo</a:t>
            </a:r>
            <a:endParaRPr lang="en-US" sz="1200" dirty="0"/>
          </a:p>
        </p:txBody>
      </p:sp>
      <p:sp>
        <p:nvSpPr>
          <p:cNvPr id="18" name="generar_preview_tramite"/>
          <p:cNvSpPr/>
          <p:nvPr/>
        </p:nvSpPr>
        <p:spPr>
          <a:xfrm>
            <a:off x="4663440" y="2103120"/>
            <a:ext cx="402336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9" name="Text 17"/>
          <p:cNvSpPr txBox="1"/>
          <p:nvPr/>
        </p:nvSpPr>
        <p:spPr>
          <a:xfrm>
            <a:off x="4846320" y="21671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generar_preview_tramite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846320" y="2468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StructuredTool</a:t>
            </a:r>
            <a:r>
              <a:rPr lang="en-US" sz="1200" dirty="0">
                <a:solidFill>
                  <a:schemeClr val="accent5"/>
                </a:solidFill>
              </a:rPr>
              <a:t>  ·  Habilita vista previa y pago</a:t>
            </a:r>
            <a:endParaRPr lang="en-US" sz="1200" dirty="0"/>
          </a:p>
        </p:txBody>
      </p:sp>
      <p:sp>
        <p:nvSpPr>
          <p:cNvPr id="21" name="obtener_requisitos_bachiller"/>
          <p:cNvSpPr/>
          <p:nvPr/>
        </p:nvSpPr>
        <p:spPr>
          <a:xfrm>
            <a:off x="4663440" y="2926080"/>
            <a:ext cx="4023360" cy="713232"/>
          </a:xfrm>
          <a:prstGeom prst="roundRect">
            <a:avLst>
              <a:gd name="adj" fmla="val 10256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2" name="Text 20"/>
          <p:cNvSpPr txBox="1"/>
          <p:nvPr/>
        </p:nvSpPr>
        <p:spPr>
          <a:xfrm>
            <a:off x="4846320" y="29900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obtener_requisitos_bachiller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3291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RAG</a:t>
            </a:r>
            <a:r>
              <a:rPr lang="en-US" sz="1200" dirty="0">
                <a:solidFill>
                  <a:schemeClr val="bg1"/>
                </a:solidFill>
              </a:rPr>
              <a:t>  ·  Requisitos de Bachiller en Elasticsearch</a:t>
            </a:r>
            <a:endParaRPr lang="en-US" sz="1200" dirty="0"/>
          </a:p>
        </p:txBody>
      </p:sp>
      <p:sp>
        <p:nvSpPr>
          <p:cNvPr id="24" name="consultar_info_constancia_certificado"/>
          <p:cNvSpPr/>
          <p:nvPr/>
        </p:nvSpPr>
        <p:spPr>
          <a:xfrm>
            <a:off x="4663440" y="3749040"/>
            <a:ext cx="4023360" cy="713232"/>
          </a:xfrm>
          <a:prstGeom prst="roundRect">
            <a:avLst>
              <a:gd name="adj" fmla="val 10256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5" name="Text 23"/>
          <p:cNvSpPr txBox="1"/>
          <p:nvPr/>
        </p:nvSpPr>
        <p:spPr>
          <a:xfrm>
            <a:off x="4846320" y="38130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consultar_info_constancia_certificado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846320" y="4114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RAG</a:t>
            </a:r>
            <a:r>
              <a:rPr lang="en-US" sz="1200" dirty="0">
                <a:solidFill>
                  <a:schemeClr val="bg1"/>
                </a:solidFill>
              </a:rPr>
              <a:t>  ·  Constancia y Certificado en Elasticsearch</a:t>
            </a:r>
            <a:endParaRPr lang="en-US" sz="12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Tool destacada: validación de Bachiller</a:t>
            </a:r>
            <a:endParaRPr lang="en-US" sz="3000" dirty="0"/>
          </a:p>
        </p:txBody>
      </p:sp>
      <p:sp>
        <p:nvSpPr>
          <p:cNvPr id="3" name="IDALUMO"/>
          <p:cNvSpPr/>
          <p:nvPr/>
        </p:nvSpPr>
        <p:spPr>
          <a:xfrm>
            <a:off x="457200" y="1874520"/>
            <a:ext cx="1371600" cy="73152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 txBox="1"/>
          <p:nvPr/>
        </p:nvSpPr>
        <p:spPr>
          <a:xfrm>
            <a:off x="502920" y="187452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IDALUMO</a:t>
            </a:r>
            <a:endParaRPr lang="en-US" sz="1300" dirty="0"/>
          </a:p>
        </p:txBody>
      </p:sp>
      <p:sp>
        <p:nvSpPr>
          <p:cNvPr id="5" name="200 créditos y 50 cursos"/>
          <p:cNvSpPr/>
          <p:nvPr/>
        </p:nvSpPr>
        <p:spPr>
          <a:xfrm>
            <a:off x="2743200" y="1234440"/>
            <a:ext cx="265176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 txBox="1"/>
          <p:nvPr/>
        </p:nvSpPr>
        <p:spPr>
          <a:xfrm>
            <a:off x="2788920" y="12344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200 créditos y 50 cursos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 flipV="1">
            <a:off x="1828800" y="1508760"/>
            <a:ext cx="914400" cy="73152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8" name="Shape 6"/>
          <p:cNvSpPr/>
          <p:nvPr/>
        </p:nvSpPr>
        <p:spPr>
          <a:xfrm>
            <a:off x="5394960" y="1508760"/>
            <a:ext cx="548640" cy="73152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9" name="Estado EGRESADO"/>
          <p:cNvSpPr/>
          <p:nvPr/>
        </p:nvSpPr>
        <p:spPr>
          <a:xfrm>
            <a:off x="2743200" y="1920240"/>
            <a:ext cx="265176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 txBox="1"/>
          <p:nvPr/>
        </p:nvSpPr>
        <p:spPr>
          <a:xfrm>
            <a:off x="2788920" y="19202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Estado EGRESADO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 flipV="1">
            <a:off x="1828800" y="2194560"/>
            <a:ext cx="914400" cy="4572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12" name="Shape 10"/>
          <p:cNvSpPr/>
          <p:nvPr/>
        </p:nvSpPr>
        <p:spPr>
          <a:xfrm>
            <a:off x="5394960" y="2194560"/>
            <a:ext cx="548640" cy="4572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13" name="Sin deuda de biblioteca"/>
          <p:cNvSpPr/>
          <p:nvPr/>
        </p:nvSpPr>
        <p:spPr>
          <a:xfrm>
            <a:off x="2743200" y="2606040"/>
            <a:ext cx="265176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 txBox="1"/>
          <p:nvPr/>
        </p:nvSpPr>
        <p:spPr>
          <a:xfrm>
            <a:off x="2788920" y="26060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Sin deuda de biblioteca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828800" y="2240280"/>
            <a:ext cx="914400" cy="64008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16" name="Shape 14"/>
          <p:cNvSpPr/>
          <p:nvPr/>
        </p:nvSpPr>
        <p:spPr>
          <a:xfrm flipV="1">
            <a:off x="5394960" y="2240280"/>
            <a:ext cx="548640" cy="64008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17" name="Elegible, o lista de requisitos pendientes"/>
          <p:cNvSpPr/>
          <p:nvPr/>
        </p:nvSpPr>
        <p:spPr>
          <a:xfrm>
            <a:off x="5943600" y="1737360"/>
            <a:ext cx="274320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8" name="Text 16"/>
          <p:cNvSpPr txBox="1"/>
          <p:nvPr/>
        </p:nvSpPr>
        <p:spPr>
          <a:xfrm>
            <a:off x="5989320" y="173736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Elegible, o lista de requisitos pendientes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337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Buenas prácticas aplicadas</a:t>
            </a:r>
            <a:endParaRPr lang="en-US" sz="1600" dirty="0"/>
          </a:p>
        </p:txBody>
      </p:sp>
      <p:sp>
        <p:nvSpPr>
          <p:cNvPr id="20" name="Descripción precisa"/>
          <p:cNvSpPr/>
          <p:nvPr/>
        </p:nvSpPr>
        <p:spPr>
          <a:xfrm>
            <a:off x="457200" y="3657600"/>
            <a:ext cx="256032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1" name="Text 19"/>
          <p:cNvSpPr txBox="1"/>
          <p:nvPr/>
        </p:nvSpPr>
        <p:spPr>
          <a:xfrm>
            <a:off x="594360" y="3703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Descripción precisa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94360" y="39776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Dice cuándo usar la tool y cuándo no</a:t>
            </a:r>
            <a:endParaRPr lang="en-US" sz="1200" dirty="0"/>
          </a:p>
        </p:txBody>
      </p:sp>
      <p:sp>
        <p:nvSpPr>
          <p:cNvPr id="23" name="Mínimo dato necesario"/>
          <p:cNvSpPr/>
          <p:nvPr/>
        </p:nvSpPr>
        <p:spPr>
          <a:xfrm>
            <a:off x="3291840" y="3657600"/>
            <a:ext cx="256032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4" name="Text 22"/>
          <p:cNvSpPr txBox="1"/>
          <p:nvPr/>
        </p:nvSpPr>
        <p:spPr>
          <a:xfrm>
            <a:off x="3429000" y="3703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Mínimo dato necesario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3429000" y="39776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El certificado devuelve un booleano; el detalle va tras confirmar</a:t>
            </a:r>
            <a:endParaRPr lang="en-US" sz="1200" dirty="0"/>
          </a:p>
        </p:txBody>
      </p:sp>
      <p:sp>
        <p:nvSpPr>
          <p:cNvPr id="26" name="Validar antes de mostrar"/>
          <p:cNvSpPr/>
          <p:nvPr/>
        </p:nvSpPr>
        <p:spPr>
          <a:xfrm>
            <a:off x="6126480" y="3657600"/>
            <a:ext cx="256032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7" name="Text 25"/>
          <p:cNvSpPr txBox="1"/>
          <p:nvPr/>
        </p:nvSpPr>
        <p:spPr>
          <a:xfrm>
            <a:off x="6263640" y="3703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Validar antes de mostrar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263640" y="39776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La vista previa solo se habilita si el alumno es elegible</a:t>
            </a:r>
            <a:endParaRPr lang="en-US" sz="12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Del chat al documento, desplegado en la nube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Experiencia del alumno</a:t>
            </a:r>
            <a:endParaRPr lang="en-US" sz="1500" dirty="0"/>
          </a:p>
        </p:txBody>
      </p:sp>
      <p:sp>
        <p:nvSpPr>
          <p:cNvPr id="4" name="Consulta"/>
          <p:cNvSpPr/>
          <p:nvPr/>
        </p:nvSpPr>
        <p:spPr>
          <a:xfrm>
            <a:off x="457200" y="1600200"/>
            <a:ext cx="146304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29184" cy="329184"/>
          </a:xfrm>
          <a:prstGeom prst="ellipse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 txBox="1"/>
          <p:nvPr/>
        </p:nvSpPr>
        <p:spPr>
          <a:xfrm>
            <a:off x="548640" y="1691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0756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Consulta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3317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Chat en lenguaje natural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929384" y="2194560"/>
            <a:ext cx="210312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10" name="Validación"/>
          <p:cNvSpPr/>
          <p:nvPr/>
        </p:nvSpPr>
        <p:spPr>
          <a:xfrm>
            <a:off x="2148840" y="1600200"/>
            <a:ext cx="146304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1" name="Shape 9"/>
          <p:cNvSpPr/>
          <p:nvPr/>
        </p:nvSpPr>
        <p:spPr>
          <a:xfrm>
            <a:off x="2240280" y="1691640"/>
            <a:ext cx="329184" cy="329184"/>
          </a:xfrm>
          <a:prstGeom prst="ellipse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2" name="Text 10"/>
          <p:cNvSpPr txBox="1"/>
          <p:nvPr/>
        </p:nvSpPr>
        <p:spPr>
          <a:xfrm>
            <a:off x="2240280" y="1691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240280" y="20756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Validación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240280" y="23317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Reglas en código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21024" y="2194560"/>
            <a:ext cx="210312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16" name="Vista previa"/>
          <p:cNvSpPr/>
          <p:nvPr/>
        </p:nvSpPr>
        <p:spPr>
          <a:xfrm>
            <a:off x="3840480" y="1600200"/>
            <a:ext cx="146304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7" name="Shape 15"/>
          <p:cNvSpPr/>
          <p:nvPr/>
        </p:nvSpPr>
        <p:spPr>
          <a:xfrm>
            <a:off x="3931920" y="1691640"/>
            <a:ext cx="329184" cy="329184"/>
          </a:xfrm>
          <a:prstGeom prst="ellipse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8" name="Text 16"/>
          <p:cNvSpPr txBox="1"/>
          <p:nvPr/>
        </p:nvSpPr>
        <p:spPr>
          <a:xfrm>
            <a:off x="3931920" y="1691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931920" y="20756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Vista previa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3931920" y="23317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Con marca de agua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12664" y="2194560"/>
            <a:ext cx="210312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22" name="Pago en línea"/>
          <p:cNvSpPr/>
          <p:nvPr/>
        </p:nvSpPr>
        <p:spPr>
          <a:xfrm>
            <a:off x="5532120" y="1600200"/>
            <a:ext cx="146304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3" name="Shape 21"/>
          <p:cNvSpPr/>
          <p:nvPr/>
        </p:nvSpPr>
        <p:spPr>
          <a:xfrm>
            <a:off x="5623560" y="1691640"/>
            <a:ext cx="329184" cy="329184"/>
          </a:xfrm>
          <a:prstGeom prst="ellipse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4" name="Text 22"/>
          <p:cNvSpPr txBox="1"/>
          <p:nvPr/>
        </p:nvSpPr>
        <p:spPr>
          <a:xfrm>
            <a:off x="5623560" y="1691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623560" y="20756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Pago en línea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623560" y="23317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Pasarela simulada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004304" y="2194560"/>
            <a:ext cx="210312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28" name="Documento"/>
          <p:cNvSpPr/>
          <p:nvPr/>
        </p:nvSpPr>
        <p:spPr>
          <a:xfrm>
            <a:off x="7223760" y="1600200"/>
            <a:ext cx="1463040" cy="1188720"/>
          </a:xfrm>
          <a:prstGeom prst="roundRect">
            <a:avLst>
              <a:gd name="adj" fmla="val 6154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9" name="Shape 27"/>
          <p:cNvSpPr/>
          <p:nvPr/>
        </p:nvSpPr>
        <p:spPr>
          <a:xfrm>
            <a:off x="7315200" y="1691640"/>
            <a:ext cx="329184" cy="329184"/>
          </a:xfrm>
          <a:prstGeom prst="ellipse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0" name="Text 28"/>
          <p:cNvSpPr txBox="1"/>
          <p:nvPr/>
        </p:nvSpPr>
        <p:spPr>
          <a:xfrm>
            <a:off x="7315200" y="1691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</a:rPr>
              <a:t>5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315200" y="20756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Documento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315200" y="23317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</a:rPr>
              <a:t>Inmediato; Bachiller en 8 días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Despliegue en Google Cloud</a:t>
            </a:r>
            <a:endParaRPr lang="en-US" sz="1500" dirty="0"/>
          </a:p>
        </p:txBody>
      </p:sp>
      <p:sp>
        <p:nvSpPr>
          <p:cNvPr id="34" name="Cloud Run"/>
          <p:cNvSpPr/>
          <p:nvPr/>
        </p:nvSpPr>
        <p:spPr>
          <a:xfrm>
            <a:off x="457200" y="3383280"/>
            <a:ext cx="1920240" cy="1051560"/>
          </a:xfrm>
          <a:prstGeom prst="roundRect">
            <a:avLst>
              <a:gd name="adj" fmla="val 6957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5" name="Text 33"/>
          <p:cNvSpPr txBox="1"/>
          <p:nvPr/>
        </p:nvSpPr>
        <p:spPr>
          <a:xfrm>
            <a:off x="594360" y="3474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Cloud Run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594360" y="38404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Un servicio para API y web</a:t>
            </a:r>
            <a:endParaRPr lang="en-US" sz="1200" dirty="0"/>
          </a:p>
        </p:txBody>
      </p:sp>
      <p:sp>
        <p:nvSpPr>
          <p:cNvPr id="37" name="Secret Manager"/>
          <p:cNvSpPr/>
          <p:nvPr/>
        </p:nvSpPr>
        <p:spPr>
          <a:xfrm>
            <a:off x="2560320" y="3383280"/>
            <a:ext cx="1920240" cy="1051560"/>
          </a:xfrm>
          <a:prstGeom prst="roundRect">
            <a:avLst>
              <a:gd name="adj" fmla="val 6957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8" name="Text 36"/>
          <p:cNvSpPr txBox="1"/>
          <p:nvPr/>
        </p:nvSpPr>
        <p:spPr>
          <a:xfrm>
            <a:off x="2697480" y="3474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Secret Manager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2697480" y="38404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Claves fuera del código</a:t>
            </a:r>
            <a:endParaRPr lang="en-US" sz="1200" dirty="0"/>
          </a:p>
        </p:txBody>
      </p:sp>
      <p:sp>
        <p:nvSpPr>
          <p:cNvPr id="40" name="Cloud Build"/>
          <p:cNvSpPr/>
          <p:nvPr/>
        </p:nvSpPr>
        <p:spPr>
          <a:xfrm>
            <a:off x="4663440" y="3383280"/>
            <a:ext cx="1920240" cy="1051560"/>
          </a:xfrm>
          <a:prstGeom prst="roundRect">
            <a:avLst>
              <a:gd name="adj" fmla="val 6957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1" name="Text 39"/>
          <p:cNvSpPr txBox="1"/>
          <p:nvPr/>
        </p:nvSpPr>
        <p:spPr>
          <a:xfrm>
            <a:off x="4800600" y="3474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Cloud Build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4800600" y="38404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Imagen desde el Dockerfile</a:t>
            </a:r>
            <a:endParaRPr lang="en-US" sz="1200" dirty="0"/>
          </a:p>
        </p:txBody>
      </p:sp>
      <p:sp>
        <p:nvSpPr>
          <p:cNvPr id="43" name="Job de indexación"/>
          <p:cNvSpPr/>
          <p:nvPr/>
        </p:nvSpPr>
        <p:spPr>
          <a:xfrm>
            <a:off x="6766560" y="3383280"/>
            <a:ext cx="1920240" cy="1051560"/>
          </a:xfrm>
          <a:prstGeom prst="roundRect">
            <a:avLst>
              <a:gd name="adj" fmla="val 6957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4" name="Text 42"/>
          <p:cNvSpPr txBox="1"/>
          <p:nvPr/>
        </p:nvSpPr>
        <p:spPr>
          <a:xfrm>
            <a:off x="6903720" y="3474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Job de indexación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6903720" y="38404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Carga el RAG en Elasticsearch</a:t>
            </a:r>
            <a:endParaRPr lang="en-US" sz="1200" dirty="0"/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</a:rPr>
              <a:t>Beneficios y próximos pasos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874520" cy="1280160"/>
          </a:xfrm>
          <a:prstGeom prst="roundRect">
            <a:avLst>
              <a:gd name="adj" fmla="val 5714"/>
            </a:avLst>
          </a:prstGeom>
          <a:solidFill>
            <a:schemeClr val="bg1">
              <a:alpha val="8000"/>
            </a:scheme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 txBox="1"/>
          <p:nvPr/>
        </p:nvSpPr>
        <p:spPr>
          <a:xfrm>
            <a:off x="731520" y="137160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24/7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031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Autoservicio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606040" y="1280160"/>
            <a:ext cx="1874520" cy="1280160"/>
          </a:xfrm>
          <a:prstGeom prst="roundRect">
            <a:avLst>
              <a:gd name="adj" fmla="val 5714"/>
            </a:avLst>
          </a:prstGeom>
          <a:solidFill>
            <a:schemeClr val="bg1">
              <a:alpha val="8000"/>
            </a:scheme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 txBox="1"/>
          <p:nvPr/>
        </p:nvSpPr>
        <p:spPr>
          <a:xfrm>
            <a:off x="2788920" y="137160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2788920" y="21031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Trámites cubiertos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280160"/>
            <a:ext cx="1874520" cy="1280160"/>
          </a:xfrm>
          <a:prstGeom prst="roundRect">
            <a:avLst>
              <a:gd name="adj" fmla="val 5714"/>
            </a:avLst>
          </a:prstGeom>
          <a:solidFill>
            <a:schemeClr val="bg1">
              <a:alpha val="8000"/>
            </a:scheme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 txBox="1"/>
          <p:nvPr/>
        </p:nvSpPr>
        <p:spPr>
          <a:xfrm>
            <a:off x="4846320" y="137160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21031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Herramientas del agente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720840" y="1280160"/>
            <a:ext cx="1874520" cy="1280160"/>
          </a:xfrm>
          <a:prstGeom prst="roundRect">
            <a:avLst>
              <a:gd name="adj" fmla="val 5714"/>
            </a:avLst>
          </a:prstGeom>
          <a:solidFill>
            <a:schemeClr val="bg1">
              <a:alpha val="8000"/>
            </a:scheme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 txBox="1"/>
          <p:nvPr/>
        </p:nvSpPr>
        <p:spPr>
          <a:xfrm>
            <a:off x="6903720" y="137160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6903720" y="21031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Pruebas automatizadas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28346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Próximos pasos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48640" y="3291840"/>
            <a:ext cx="1874520" cy="1188720"/>
          </a:xfrm>
          <a:prstGeom prst="roundRect">
            <a:avLst>
              <a:gd name="adj" fmla="val 6154"/>
            </a:avLst>
          </a:prstGeom>
          <a:solidFill>
            <a:schemeClr val="bg1">
              <a:alpha val="8000"/>
            </a:scheme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7" name="Shape 15"/>
          <p:cNvSpPr/>
          <p:nvPr/>
        </p:nvSpPr>
        <p:spPr>
          <a:xfrm>
            <a:off x="731520" y="342900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8" name="Text 16"/>
          <p:cNvSpPr txBox="1"/>
          <p:nvPr/>
        </p:nvSpPr>
        <p:spPr>
          <a:xfrm>
            <a:off x="73152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606040" y="3291840"/>
            <a:ext cx="1874520" cy="1188720"/>
          </a:xfrm>
          <a:prstGeom prst="roundRect">
            <a:avLst>
              <a:gd name="adj" fmla="val 6154"/>
            </a:avLst>
          </a:prstGeom>
          <a:solidFill>
            <a:schemeClr val="bg1">
              <a:alpha val="8000"/>
            </a:scheme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1" name="Shape 19"/>
          <p:cNvSpPr/>
          <p:nvPr/>
        </p:nvSpPr>
        <p:spPr>
          <a:xfrm>
            <a:off x="2788920" y="342900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2" name="Text 20"/>
          <p:cNvSpPr txBox="1"/>
          <p:nvPr/>
        </p:nvSpPr>
        <p:spPr>
          <a:xfrm>
            <a:off x="278892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2788920" y="38862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 err="1">
                <a:solidFill>
                  <a:schemeClr val="bg1"/>
                </a:solidFill>
              </a:rPr>
              <a:t>Validación</a:t>
            </a:r>
            <a:r>
              <a:rPr lang="en-US" sz="1200" dirty="0">
                <a:solidFill>
                  <a:schemeClr val="bg1"/>
                </a:solidFill>
              </a:rPr>
              <a:t> de requisites </a:t>
            </a:r>
            <a:r>
              <a:rPr lang="en-US" sz="1200" dirty="0" err="1">
                <a:solidFill>
                  <a:schemeClr val="bg1"/>
                </a:solidFill>
              </a:rPr>
              <a:t>obligatorias</a:t>
            </a:r>
            <a:r>
              <a:rPr lang="en-US" sz="1200" dirty="0">
                <a:solidFill>
                  <a:schemeClr val="bg1"/>
                </a:solidFill>
              </a:rPr>
              <a:t> de Bachiller con IA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63440" y="3291840"/>
            <a:ext cx="1874520" cy="1188720"/>
          </a:xfrm>
          <a:prstGeom prst="roundRect">
            <a:avLst>
              <a:gd name="adj" fmla="val 6154"/>
            </a:avLst>
          </a:prstGeom>
          <a:solidFill>
            <a:schemeClr val="bg1">
              <a:alpha val="8000"/>
            </a:scheme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5" name="Shape 23"/>
          <p:cNvSpPr/>
          <p:nvPr/>
        </p:nvSpPr>
        <p:spPr>
          <a:xfrm>
            <a:off x="4846320" y="342900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6" name="Text 24"/>
          <p:cNvSpPr txBox="1"/>
          <p:nvPr/>
        </p:nvSpPr>
        <p:spPr>
          <a:xfrm>
            <a:off x="484632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846320" y="38862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Pasarela de pago real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720840" y="3291840"/>
            <a:ext cx="1874520" cy="1188720"/>
          </a:xfrm>
          <a:prstGeom prst="roundRect">
            <a:avLst>
              <a:gd name="adj" fmla="val 6154"/>
            </a:avLst>
          </a:prstGeom>
          <a:solidFill>
            <a:schemeClr val="bg1">
              <a:alpha val="8000"/>
            </a:scheme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9" name="Shape 27"/>
          <p:cNvSpPr/>
          <p:nvPr/>
        </p:nvSpPr>
        <p:spPr>
          <a:xfrm>
            <a:off x="6903720" y="342900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0" name="Text 28"/>
          <p:cNvSpPr txBox="1"/>
          <p:nvPr/>
        </p:nvSpPr>
        <p:spPr>
          <a:xfrm>
            <a:off x="690372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903720" y="38862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Piloto con métricas de adopción y precisión</a:t>
            </a:r>
            <a:endParaRPr lang="en-US" sz="1200" dirty="0"/>
          </a:p>
        </p:txBody>
      </p:sp>
      <p:sp>
        <p:nvSpPr>
          <p:cNvPr id="33" name="Text 21">
            <a:extLst>
              <a:ext uri="{FF2B5EF4-FFF2-40B4-BE49-F238E27FC236}">
                <a16:creationId xmlns:a16="http://schemas.microsoft.com/office/drawing/2014/main" id="{1B75FFE4-4892-E4E1-F6EC-A694C7E47B90}"/>
              </a:ext>
            </a:extLst>
          </p:cNvPr>
          <p:cNvSpPr txBox="1"/>
          <p:nvPr/>
        </p:nvSpPr>
        <p:spPr>
          <a:xfrm>
            <a:off x="708660" y="38862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Autenticación de alumnos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ramites Academicos">
  <a:themeElements>
    <a:clrScheme name="Tramites Academicos">
      <a:dk1>
        <a:srgbClr val="14213D"/>
      </a:dk1>
      <a:lt1>
        <a:srgbClr val="FFFFFF"/>
      </a:lt1>
      <a:dk2>
        <a:srgbClr val="0B4F57"/>
      </a:dk2>
      <a:lt2>
        <a:srgbClr val="EEF3F3"/>
      </a:lt2>
      <a:accent1>
        <a:srgbClr val="0F766E"/>
      </a:accent1>
      <a:accent2>
        <a:srgbClr val="E09F3E"/>
      </a:accent2>
      <a:accent3>
        <a:srgbClr val="A4372F"/>
      </a:accent3>
      <a:accent4>
        <a:srgbClr val="3B6978"/>
      </a:accent4>
      <a:accent5>
        <a:srgbClr val="6B7F8C"/>
      </a:accent5>
      <a:accent6>
        <a:srgbClr val="2E7D5B"/>
      </a:accent6>
      <a:hlink>
        <a:srgbClr val="0F766E"/>
      </a:hlink>
      <a:folHlink>
        <a:srgbClr val="6B7F8C"/>
      </a:folHlink>
    </a:clrScheme>
    <a:fontScheme name="Tramites Academico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524</TotalTime>
  <Words>1321</Words>
  <Application>Microsoft Office PowerPoint</Application>
  <PresentationFormat>Presentación en pantalla (16:9)</PresentationFormat>
  <Paragraphs>243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Tramites Academicos</vt:lpstr>
      <vt:lpstr>Presentación de PowerPoint</vt:lpstr>
      <vt:lpstr>El problema: un proceso manual, lento y con alto riesgo de error</vt:lpstr>
      <vt:lpstr>Análisis previo: actores y necesidades</vt:lpstr>
      <vt:lpstr>Reglas de negocio por trámite</vt:lpstr>
      <vt:lpstr>Presentación de PowerPoint</vt:lpstr>
      <vt:lpstr>Arquitectura del Sistema</vt:lpstr>
      <vt:lpstr>RAG: LlamaIndex + LangChain</vt:lpstr>
      <vt:lpstr>Herramientas: 6 deterministas + 2 RAG</vt:lpstr>
      <vt:lpstr>Tool destacada: validación de Bachiller</vt:lpstr>
      <vt:lpstr>Del chat al documento, desplegado en la nube</vt:lpstr>
      <vt:lpstr>Beneficios y próximos pasos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Asistente Virtual de Tramites Academicos</dc:title>
  <dc:subject>PptxGenJS Presentation</dc:subject>
  <dc:creator>PptxGenJS</dc:creator>
  <cp:lastModifiedBy>JAVIER SANTIAGO</cp:lastModifiedBy>
  <cp:revision>25</cp:revision>
  <dcterms:created xsi:type="dcterms:W3CDTF">2026-10-24T06:44:16Z</dcterms:created>
  <dcterms:modified xsi:type="dcterms:W3CDTF">2026-10-24T15:30:19Z</dcterms:modified>
</cp:coreProperties>
</file>